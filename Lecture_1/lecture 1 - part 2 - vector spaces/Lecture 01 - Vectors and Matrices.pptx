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487" r:id="rId3"/>
    <p:sldId id="489" r:id="rId4"/>
    <p:sldId id="490" r:id="rId5"/>
    <p:sldId id="491" r:id="rId6"/>
    <p:sldId id="492" r:id="rId7"/>
    <p:sldId id="493" r:id="rId8"/>
    <p:sldId id="494" r:id="rId9"/>
    <p:sldId id="495" r:id="rId10"/>
    <p:sldId id="496" r:id="rId11"/>
    <p:sldId id="503" r:id="rId12"/>
    <p:sldId id="497" r:id="rId13"/>
    <p:sldId id="498" r:id="rId14"/>
    <p:sldId id="499" r:id="rId15"/>
    <p:sldId id="500" r:id="rId16"/>
    <p:sldId id="501" r:id="rId17"/>
    <p:sldId id="488" r:id="rId18"/>
    <p:sldId id="504" r:id="rId19"/>
    <p:sldId id="505" r:id="rId20"/>
    <p:sldId id="506" r:id="rId21"/>
    <p:sldId id="507" r:id="rId22"/>
    <p:sldId id="510" r:id="rId23"/>
    <p:sldId id="509" r:id="rId24"/>
    <p:sldId id="508" r:id="rId25"/>
    <p:sldId id="511" r:id="rId26"/>
    <p:sldId id="512" r:id="rId27"/>
    <p:sldId id="513" r:id="rId28"/>
    <p:sldId id="523" r:id="rId29"/>
    <p:sldId id="514" r:id="rId30"/>
    <p:sldId id="515" r:id="rId31"/>
    <p:sldId id="516" r:id="rId32"/>
    <p:sldId id="517" r:id="rId33"/>
    <p:sldId id="518" r:id="rId34"/>
    <p:sldId id="519" r:id="rId35"/>
    <p:sldId id="520" r:id="rId36"/>
    <p:sldId id="521" r:id="rId37"/>
    <p:sldId id="522" r:id="rId38"/>
    <p:sldId id="524" r:id="rId39"/>
    <p:sldId id="525" r:id="rId40"/>
    <p:sldId id="480" r:id="rId41"/>
    <p:sldId id="481" r:id="rId42"/>
    <p:sldId id="482" r:id="rId43"/>
    <p:sldId id="483" r:id="rId44"/>
    <p:sldId id="486" r:id="rId45"/>
    <p:sldId id="485" r:id="rId46"/>
    <p:sldId id="484" r:id="rId47"/>
    <p:sldId id="526" r:id="rId48"/>
    <p:sldId id="527" r:id="rId49"/>
    <p:sldId id="528" r:id="rId50"/>
    <p:sldId id="529" r:id="rId51"/>
    <p:sldId id="531" r:id="rId52"/>
    <p:sldId id="532" r:id="rId53"/>
    <p:sldId id="530" r:id="rId54"/>
    <p:sldId id="533" r:id="rId55"/>
    <p:sldId id="534" r:id="rId56"/>
    <p:sldId id="535" r:id="rId57"/>
    <p:sldId id="554" r:id="rId58"/>
    <p:sldId id="553" r:id="rId59"/>
    <p:sldId id="555" r:id="rId60"/>
    <p:sldId id="552" r:id="rId61"/>
    <p:sldId id="536" r:id="rId62"/>
    <p:sldId id="537" r:id="rId63"/>
    <p:sldId id="538" r:id="rId64"/>
    <p:sldId id="539" r:id="rId65"/>
    <p:sldId id="540" r:id="rId66"/>
    <p:sldId id="541" r:id="rId67"/>
    <p:sldId id="542" r:id="rId68"/>
    <p:sldId id="543" r:id="rId69"/>
    <p:sldId id="544" r:id="rId70"/>
    <p:sldId id="556" r:id="rId71"/>
    <p:sldId id="545" r:id="rId72"/>
    <p:sldId id="546" r:id="rId73"/>
    <p:sldId id="547" r:id="rId74"/>
    <p:sldId id="548" r:id="rId75"/>
    <p:sldId id="549" r:id="rId76"/>
    <p:sldId id="550" r:id="rId77"/>
    <p:sldId id="502" r:id="rId78"/>
    <p:sldId id="273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7" autoAdjust="0"/>
    <p:restoredTop sz="84570"/>
  </p:normalViewPr>
  <p:slideViewPr>
    <p:cSldViewPr snapToGrid="0">
      <p:cViewPr varScale="1">
        <p:scale>
          <a:sx n="93" d="100"/>
          <a:sy n="93" d="100"/>
        </p:scale>
        <p:origin x="948" y="9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ord2vec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Distance" TargetMode="External"/><Relationship Id="rId13" Type="http://schemas.openxmlformats.org/officeDocument/2006/relationships/hyperlink" Target="https://en.wikipedia.org/wiki/Complex_number" TargetMode="External"/><Relationship Id="rId3" Type="http://schemas.openxmlformats.org/officeDocument/2006/relationships/hyperlink" Target="https://en.wikipedia.org/wiki/Mathematics" TargetMode="External"/><Relationship Id="rId7" Type="http://schemas.openxmlformats.org/officeDocument/2006/relationships/hyperlink" Target="https://en.wikipedia.org/wiki/Set_(mathematics)" TargetMode="External"/><Relationship Id="rId12" Type="http://schemas.openxmlformats.org/officeDocument/2006/relationships/hyperlink" Target="https://en.wikipedia.org/wiki/Real_number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Distance_(mathematics)" TargetMode="External"/><Relationship Id="rId11" Type="http://schemas.openxmlformats.org/officeDocument/2006/relationships/hyperlink" Target="https://en.wikipedia.org/wiki/Vector_space" TargetMode="External"/><Relationship Id="rId5" Type="http://schemas.openxmlformats.org/officeDocument/2006/relationships/hyperlink" Target="https://en.wikipedia.org/wiki/Closeness_(mathematics)" TargetMode="External"/><Relationship Id="rId10" Type="http://schemas.openxmlformats.org/officeDocument/2006/relationships/hyperlink" Target="https://en.wikipedia.org/wiki/Point_(geometry)" TargetMode="External"/><Relationship Id="rId4" Type="http://schemas.openxmlformats.org/officeDocument/2006/relationships/hyperlink" Target="https://en.wikipedia.org/wiki/Geometry" TargetMode="External"/><Relationship Id="rId9" Type="http://schemas.openxmlformats.org/officeDocument/2006/relationships/hyperlink" Target="https://en.wikipedia.org/wiki/Element_(mathematics)" TargetMode="External"/><Relationship Id="rId14" Type="http://schemas.openxmlformats.org/officeDocument/2006/relationships/hyperlink" Target="https://en.wikipedia.org/wiki/Norm_(mathematics)" TargetMode="Externa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</a:rPr>
              <a:t>By the end of this unit you should know: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1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15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dirty="0">
                <a:effectLst/>
                <a:latin typeface="-apple-system"/>
              </a:rPr>
              <a:t>Words aren‘t enough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endParaRPr lang="en-GB" b="0" i="0" dirty="0">
              <a:effectLst/>
              <a:latin typeface="-apple-system"/>
            </a:endParaRPr>
          </a:p>
          <a:p>
            <a:pPr algn="l"/>
            <a:r>
              <a:rPr lang="en-GB" b="0" i="0" dirty="0">
                <a:effectLst/>
                <a:latin typeface="-apple-system"/>
              </a:rPr>
              <a:t>Looking up words in the dictionary doesn't work as translation model, no matter how brilliant your text comparison algorithms are:</a:t>
            </a:r>
          </a:p>
          <a:p>
            <a:pPr algn="l"/>
            <a:br>
              <a:rPr lang="en-GB" b="0" i="0" dirty="0">
                <a:effectLst/>
                <a:latin typeface="-apple-system"/>
              </a:rPr>
            </a:br>
            <a:endParaRPr lang="en-GB" b="0" i="0" dirty="0"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67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An effective approach is to imbue text fragments with additional mathematical structure -- </a:t>
            </a:r>
            <a:r>
              <a:rPr lang="en-GB" b="1" i="0" dirty="0">
                <a:effectLst/>
                <a:latin typeface="-apple-system"/>
              </a:rPr>
              <a:t>to place them in a vector space</a:t>
            </a:r>
            <a:r>
              <a:rPr lang="en-GB" b="0" i="0" dirty="0">
                <a:effectLst/>
                <a:latin typeface="-apple-system"/>
              </a:rPr>
              <a:t>. </a:t>
            </a:r>
          </a:p>
          <a:p>
            <a:endParaRPr lang="en-GB" b="0" i="0" dirty="0">
              <a:effectLst/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This is called </a:t>
            </a:r>
            <a:r>
              <a:rPr lang="en-GB" b="1" i="0" dirty="0">
                <a:effectLst/>
                <a:latin typeface="-apple-system"/>
              </a:rPr>
              <a:t>embedding</a:t>
            </a:r>
            <a:r>
              <a:rPr lang="en-GB" b="0" i="0" dirty="0">
                <a:effectLst/>
                <a:latin typeface="-apple-system"/>
              </a:rPr>
              <a:t> and algorithms such as </a:t>
            </a:r>
            <a:r>
              <a:rPr lang="en-GB" b="0" i="0" u="none" strike="noStrike" dirty="0">
                <a:effectLst/>
                <a:latin typeface="-apple-system"/>
                <a:hlinkClick r:id="rId3"/>
              </a:rPr>
              <a:t>Word2vec</a:t>
            </a:r>
            <a:r>
              <a:rPr lang="en-GB" b="0" i="0" dirty="0">
                <a:effectLst/>
                <a:latin typeface="-apple-system"/>
              </a:rPr>
              <a:t> can learn a transformation from strings to high dimensional vectors (typically &gt;100D) simply by observing large amounts of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7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0" dirty="0">
                <a:effectLst/>
                <a:latin typeface="-apple-system"/>
              </a:rPr>
              <a:t>Because this data has the structure of a (topological) vector space, it is possible answer computationally questions like:</a:t>
            </a:r>
          </a:p>
          <a:p>
            <a:pPr algn="l"/>
            <a:br>
              <a:rPr lang="en-GB" b="0" i="0" dirty="0">
                <a:effectLst/>
                <a:latin typeface="-apple-system"/>
              </a:rPr>
            </a:br>
            <a:endParaRPr lang="en-GB" b="0" i="0" dirty="0">
              <a:effectLst/>
              <a:latin typeface="-apple-system"/>
            </a:endParaRP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ar(--jp-content-font-family)"/>
              </a:rPr>
              <a:t>Although each dimension of the space has no obvious meaning, the embedding means that </a:t>
            </a:r>
            <a:r>
              <a:rPr lang="en-GB" b="1" i="0" dirty="0">
                <a:solidFill>
                  <a:srgbClr val="000000"/>
                </a:solidFill>
                <a:effectLst/>
                <a:latin typeface="var(--jp-content-font-family)"/>
              </a:rPr>
              <a:t>semantics are mapped onto spatial relations</a:t>
            </a:r>
            <a:r>
              <a:rPr lang="en-GB" b="0" i="0" dirty="0">
                <a:solidFill>
                  <a:srgbClr val="000000"/>
                </a:solidFill>
                <a:effectLst/>
                <a:latin typeface="var(--jp-content-font-family)"/>
              </a:rPr>
              <a:t>.</a:t>
            </a:r>
          </a:p>
          <a:p>
            <a:br>
              <a:rPr lang="en-GB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22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56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90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8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effectLst/>
                <a:ea typeface="Calibri" panose="020F0502020204030204" pitchFamily="34" charset="0"/>
              </a:rPr>
              <a:t>All operations between vectors are defined </a:t>
            </a:r>
            <a:r>
              <a:rPr lang="en-GB" dirty="0">
                <a:solidFill>
                  <a:schemeClr val="accent6"/>
                </a:solidFill>
                <a:effectLst/>
                <a:ea typeface="Calibri" panose="020F0502020204030204" pitchFamily="34" charset="0"/>
              </a:rPr>
              <a:t>within</a:t>
            </a:r>
            <a:r>
              <a:rPr lang="en-GB" dirty="0">
                <a:effectLst/>
                <a:ea typeface="Calibri" panose="020F0502020204030204" pitchFamily="34" charset="0"/>
              </a:rPr>
              <a:t> a vector space. We cannot, for example, add two vectors of different dimension, as they are elements of different spaces.</a:t>
            </a:r>
          </a:p>
          <a:p>
            <a:r>
              <a:rPr lang="en-GB" b="0" i="0" dirty="0">
                <a:solidFill>
                  <a:srgbClr val="D1D5DB"/>
                </a:solidFill>
                <a:effectLst/>
                <a:latin typeface="Söhne"/>
              </a:rPr>
              <a:t>The symbol "⟨" is called "angle bracket" or "left angle bracket".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75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athematics"/>
              </a:rPr>
              <a:t>mathematics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 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topological space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is, roughly speaking, a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Geometry"/>
              </a:rPr>
              <a:t>geometrical space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which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Closeness (mathematics)"/>
              </a:rPr>
              <a:t>closeness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defined but cannot necessarily be measured by a numeric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Distance (mathematics)"/>
              </a:rPr>
              <a:t>distance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athematics"/>
              </a:rPr>
              <a:t>mathematics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 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metric space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Set (mathematics)"/>
              </a:rPr>
              <a:t>set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together with a notion of </a:t>
            </a:r>
            <a:r>
              <a:rPr lang="en-GB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Distance"/>
              </a:rPr>
              <a:t>distance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between its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Element (mathematics)"/>
              </a:rPr>
              <a:t>elements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usually called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Point (geometry)"/>
              </a:rPr>
              <a:t>points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athematics"/>
              </a:rPr>
              <a:t>mathematics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 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normed vector space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normed space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1" tooltip="Vector space"/>
              </a:rPr>
              <a:t>vector space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over the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2" tooltip="Real number"/>
              </a:rPr>
              <a:t>real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3" tooltip="Complex number"/>
              </a:rPr>
              <a:t>complex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numbers on which a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4" tooltip="Norm (mathematics)"/>
              </a:rPr>
              <a:t>norm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99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Google Sans"/>
              </a:rPr>
              <a:t>you can define the norm of a vector to be the square root of the inner product of the vector with itself. </a:t>
            </a:r>
            <a:endParaRPr lang="en-US" altLang="zh-CN" dirty="0"/>
          </a:p>
          <a:p>
            <a:r>
              <a:rPr lang="en-US" altLang="zh-CN" dirty="0"/>
              <a:t>L2</a:t>
            </a:r>
            <a:r>
              <a:rPr lang="zh-CN" altLang="en-US" dirty="0"/>
              <a:t> </a:t>
            </a:r>
            <a:r>
              <a:rPr lang="en-US" altLang="zh-CN" dirty="0"/>
              <a:t>Norm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distance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86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01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These vectors of real numbers can be represented by the 1D floating point arrays we called "vectors" in the self-study. But be careful; the representation and the mathematical element are different things, just as floating point numbers are not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08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29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3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1" dirty="0">
                <a:effectLst/>
                <a:latin typeface="-apple-system"/>
              </a:rPr>
              <a:t>Image: </a:t>
            </a:r>
            <a:r>
              <a:rPr lang="en-GB" b="0" i="1" dirty="0" err="1">
                <a:effectLst/>
                <a:latin typeface="-apple-system"/>
              </a:rPr>
              <a:t>pairplot</a:t>
            </a:r>
            <a:r>
              <a:rPr lang="en-GB" b="0" i="1" dirty="0">
                <a:effectLst/>
                <a:latin typeface="-apple-system"/>
              </a:rPr>
              <a:t> of the four dimensions of the iris dataset against each other. A new point (yellow) is tested, and the 3 nearest neighbours (black dashed circles) are shown. The result of classification is the majority label of the neighbours; here, most of the neighbours belong to the green class</a:t>
            </a:r>
            <a:endParaRPr lang="en-GB" b="0" i="0" dirty="0">
              <a:effectLst/>
              <a:latin typeface="-apple-system"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28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1" dirty="0">
                <a:effectLst/>
                <a:latin typeface="-apple-system"/>
              </a:rPr>
              <a:t>Image: </a:t>
            </a:r>
            <a:r>
              <a:rPr lang="en-GB" b="0" i="1" dirty="0" err="1">
                <a:effectLst/>
                <a:latin typeface="-apple-system"/>
              </a:rPr>
              <a:t>pairplot</a:t>
            </a:r>
            <a:r>
              <a:rPr lang="en-GB" b="0" i="1" dirty="0">
                <a:effectLst/>
                <a:latin typeface="-apple-system"/>
              </a:rPr>
              <a:t> of the four dimensions of the iris dataset against each other. A new point (yellow) is tested, and the 3 nearest neighbours (black dashed circles) are shown. The result of classification is the majority label of the neighbours; here, most of the neighbours belong to the green class</a:t>
            </a:r>
            <a:endParaRPr lang="en-GB" b="0" i="0" dirty="0">
              <a:effectLst/>
              <a:latin typeface="-apple-system"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5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This lets us move along the line between two vectors: as </a:t>
            </a:r>
            <a:r>
              <a:rPr lang="el-GR" b="0" i="0" dirty="0">
                <a:effectLst/>
                <a:latin typeface="MJXc-TeX-math-I"/>
              </a:rPr>
              <a:t>α</a:t>
            </a:r>
            <a:r>
              <a:rPr lang="el-GR" b="0" i="0" dirty="0">
                <a:effectLst/>
                <a:latin typeface="-apple-system"/>
              </a:rPr>
              <a:t>� </a:t>
            </a:r>
            <a:r>
              <a:rPr lang="en-GB" b="0" i="0" dirty="0">
                <a:effectLst/>
                <a:latin typeface="-apple-system"/>
              </a:rPr>
              <a:t>goes from 0 to 1, the result goes in a smooth straight line from </a:t>
            </a:r>
            <a:r>
              <a:rPr lang="en-GB" b="0" i="0" dirty="0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-apple-system"/>
              </a:rPr>
              <a:t>� to </a:t>
            </a:r>
            <a:r>
              <a:rPr lang="en-GB" b="0" i="0" dirty="0">
                <a:effectLst/>
                <a:latin typeface="MJXc-TeX-main-B"/>
              </a:rPr>
              <a:t>y</a:t>
            </a:r>
            <a:r>
              <a:rPr lang="en-GB" b="0" i="0" dirty="0">
                <a:effectLst/>
                <a:latin typeface="-apple-system"/>
              </a:rPr>
              <a:t>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56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>
                <a:effectLst/>
                <a:latin typeface="var(--jp-content-font-family)"/>
              </a:rPr>
              <a:t>We can </a:t>
            </a:r>
            <a:r>
              <a:rPr lang="en-GB" b="1" dirty="0" err="1">
                <a:effectLst/>
                <a:latin typeface="var(--jp-content-font-family)"/>
              </a:rPr>
              <a:t>center</a:t>
            </a:r>
            <a:r>
              <a:rPr lang="en-GB" dirty="0">
                <a:effectLst/>
                <a:latin typeface="var(--jp-content-font-family)"/>
              </a:rPr>
              <a:t> a dataset stored as an array of vectors to </a:t>
            </a:r>
            <a:r>
              <a:rPr lang="en-GB" b="1" dirty="0">
                <a:effectLst/>
                <a:latin typeface="var(--jp-content-font-family)"/>
              </a:rPr>
              <a:t>zero mean</a:t>
            </a:r>
            <a:r>
              <a:rPr lang="en-GB" dirty="0">
                <a:effectLst/>
                <a:latin typeface="var(--jp-content-font-family)"/>
              </a:rPr>
              <a:t> by just subtracting the mean vector from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Vectors in low dimensional space, such as 2D and 3D are familiar in their operation. However, data science often involves </a:t>
            </a:r>
            <a:r>
              <a:rPr lang="en-GB" b="1" i="0" dirty="0">
                <a:effectLst/>
                <a:latin typeface="-apple-system"/>
              </a:rPr>
              <a:t>high dimensional vector spaces</a:t>
            </a:r>
            <a:r>
              <a:rPr lang="en-GB" b="0" i="0" dirty="0">
                <a:effectLst/>
                <a:latin typeface="-apple-system"/>
              </a:rPr>
              <a:t>, which obey the same mathematical rules as we have defined, but whose properties are sometimes unintuitive.</a:t>
            </a:r>
          </a:p>
          <a:p>
            <a:endParaRPr lang="en-GB" b="0" i="0" dirty="0"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91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0" dirty="0">
                <a:effectLst/>
                <a:latin typeface="-apple-system"/>
              </a:rPr>
              <a:t>We have seen that (real) vectors represent elements of a vector space as 1D arrays of real numbers (and implemented as </a:t>
            </a:r>
            <a:r>
              <a:rPr lang="en-GB" b="0" i="0" dirty="0" err="1">
                <a:effectLst/>
                <a:latin typeface="-apple-system"/>
              </a:rPr>
              <a:t>ndarrays</a:t>
            </a:r>
            <a:r>
              <a:rPr lang="en-GB" b="0" i="0" dirty="0">
                <a:effectLst/>
                <a:latin typeface="-apple-system"/>
              </a:rPr>
              <a:t> of floats).</a:t>
            </a: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54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1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546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quartile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 </a:t>
            </a:r>
            <a:r>
              <a:rPr lang="en-GB" altLang="zh-CN" dirty="0"/>
              <a:t>quartile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 </a:t>
            </a:r>
            <a:r>
              <a:rPr lang="en-GB" altLang="zh-CN" dirty="0"/>
              <a:t>quartile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zh-CN" altLang="en-US" dirty="0"/>
              <a:t>  </a:t>
            </a:r>
            <a:r>
              <a:rPr lang="en-GB" altLang="zh-CN" dirty="0"/>
              <a:t>quartile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zh-CN" altLang="en-US" dirty="0"/>
              <a:t>  </a:t>
            </a:r>
            <a:r>
              <a:rPr lang="en-GB" altLang="zh-CN" dirty="0" err="1"/>
              <a:t>quartil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quartile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661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quartile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 </a:t>
            </a:r>
            <a:r>
              <a:rPr lang="en-GB" altLang="zh-CN" dirty="0"/>
              <a:t>quartile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 </a:t>
            </a:r>
            <a:r>
              <a:rPr lang="en-GB" altLang="zh-CN" dirty="0"/>
              <a:t>quartile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zh-CN" altLang="en-US" dirty="0"/>
              <a:t>  </a:t>
            </a:r>
            <a:r>
              <a:rPr lang="en-GB" altLang="zh-CN" dirty="0"/>
              <a:t>quartile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zh-CN" altLang="en-US" dirty="0"/>
              <a:t>  </a:t>
            </a:r>
            <a:r>
              <a:rPr lang="en-GB" altLang="zh-CN" dirty="0" err="1"/>
              <a:t>quartil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en-US" altLang="zh-CN" baseline="30000" dirty="0"/>
              <a:t>th</a:t>
            </a:r>
            <a:r>
              <a:rPr lang="zh-CN" altLang="en-US" dirty="0"/>
              <a:t> </a:t>
            </a:r>
            <a:r>
              <a:rPr lang="en-US" altLang="zh-CN" dirty="0"/>
              <a:t>quartile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92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notes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codes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032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effectLst/>
                <a:latin typeface="-apple-system"/>
              </a:rPr>
              <a:t>There is an </a:t>
            </a:r>
            <a:r>
              <a:rPr lang="en-GB" b="1" i="0" dirty="0">
                <a:effectLst/>
                <a:latin typeface="-apple-system"/>
              </a:rPr>
              <a:t>algebra</a:t>
            </a:r>
            <a:r>
              <a:rPr lang="en-GB" b="0" i="0" dirty="0">
                <a:effectLst/>
                <a:latin typeface="-apple-system"/>
              </a:rPr>
              <a:t> of matrices; this is </a:t>
            </a:r>
            <a:r>
              <a:rPr lang="en-GB" b="1" i="0" dirty="0">
                <a:effectLst/>
                <a:latin typeface="-apple-system"/>
              </a:rPr>
              <a:t>linear algebra</a:t>
            </a:r>
            <a:r>
              <a:rPr lang="en-GB" b="0" i="0" dirty="0">
                <a:effectLst/>
                <a:latin typeface="-apple-system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492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effectLst/>
                <a:latin typeface="-apple-system"/>
              </a:rPr>
              <a:t>There is an </a:t>
            </a:r>
            <a:r>
              <a:rPr lang="en-GB" b="1" i="0" dirty="0">
                <a:effectLst/>
                <a:latin typeface="-apple-system"/>
              </a:rPr>
              <a:t>algebra</a:t>
            </a:r>
            <a:r>
              <a:rPr lang="en-GB" b="0" i="0" dirty="0">
                <a:effectLst/>
                <a:latin typeface="-apple-system"/>
              </a:rPr>
              <a:t> of matrices; this is </a:t>
            </a:r>
            <a:r>
              <a:rPr lang="en-GB" b="1" i="0" dirty="0">
                <a:effectLst/>
                <a:latin typeface="-apple-system"/>
              </a:rPr>
              <a:t>linear algebra</a:t>
            </a:r>
            <a:r>
              <a:rPr lang="en-GB" b="0" i="0" dirty="0">
                <a:effectLst/>
                <a:latin typeface="-apple-system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30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effectLst/>
                <a:latin typeface="-apple-system"/>
              </a:rPr>
              <a:t>Let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delve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into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the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1" i="0" dirty="0">
                <a:effectLst/>
                <a:latin typeface="-apple-system"/>
              </a:rPr>
              <a:t>matrix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1" i="0" dirty="0">
                <a:effectLst/>
                <a:latin typeface="-apple-system"/>
              </a:rPr>
              <a:t>applying</a:t>
            </a:r>
            <a:r>
              <a:rPr lang="en-US" altLang="zh-CN" b="0" i="0" dirty="0">
                <a:effectLst/>
                <a:latin typeface="-apple-system"/>
              </a:rPr>
              <a:t>.</a:t>
            </a:r>
            <a:endParaRPr lang="en-GB" b="0" i="0" dirty="0">
              <a:effectLst/>
              <a:latin typeface="-apple-system"/>
            </a:endParaRPr>
          </a:p>
          <a:p>
            <a:endParaRPr lang="en-GB" b="0" i="0" dirty="0">
              <a:effectLst/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We can apply a matrix to a vector. We write it as a product </a:t>
            </a:r>
            <a:r>
              <a:rPr lang="en-GB" b="0" i="0" dirty="0" err="1">
                <a:effectLst/>
                <a:latin typeface="MJXc-TeX-math-I"/>
              </a:rPr>
              <a:t>A</a:t>
            </a:r>
            <a:r>
              <a:rPr lang="en-GB" b="0" i="0" dirty="0" err="1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-apple-system"/>
              </a:rPr>
              <a:t>, to mean the matrix </a:t>
            </a:r>
            <a:r>
              <a:rPr lang="en-GB" b="0" i="0" dirty="0">
                <a:effectLst/>
                <a:latin typeface="MJXc-TeX-math-I"/>
              </a:rPr>
              <a:t>A</a:t>
            </a:r>
            <a:r>
              <a:rPr lang="en-GB" b="0" i="0" dirty="0">
                <a:effectLst/>
                <a:latin typeface="-apple-system"/>
              </a:rPr>
              <a:t>� applied to the vector </a:t>
            </a:r>
            <a:r>
              <a:rPr lang="en-GB" b="0" i="0" dirty="0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-apple-system"/>
              </a:rPr>
              <a:t>�. This is equivalent to applying the function </a:t>
            </a:r>
            <a:r>
              <a:rPr lang="en-GB" b="0" i="0" dirty="0">
                <a:effectLst/>
                <a:latin typeface="MJXc-TeX-math-I"/>
              </a:rPr>
              <a:t>f</a:t>
            </a:r>
            <a:r>
              <a:rPr lang="en-GB" b="0" i="0" dirty="0">
                <a:effectLst/>
                <a:latin typeface="MJXc-TeX-main-R"/>
              </a:rPr>
              <a:t>(</a:t>
            </a:r>
            <a:r>
              <a:rPr lang="en-GB" b="0" i="0" dirty="0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MJXc-TeX-main-R"/>
              </a:rPr>
              <a:t>)</a:t>
            </a:r>
            <a:r>
              <a:rPr lang="en-GB" b="0" i="0" dirty="0">
                <a:effectLst/>
                <a:latin typeface="-apple-system"/>
              </a:rPr>
              <a:t>�(�), where </a:t>
            </a:r>
            <a:r>
              <a:rPr lang="en-GB" b="0" i="0" dirty="0">
                <a:effectLst/>
                <a:latin typeface="MJXc-TeX-math-I"/>
              </a:rPr>
              <a:t>f</a:t>
            </a:r>
            <a:r>
              <a:rPr lang="en-GB" b="0" i="0" dirty="0">
                <a:effectLst/>
                <a:latin typeface="-apple-system"/>
              </a:rPr>
              <a:t> is the corresponding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34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030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731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The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second</a:t>
            </a:r>
            <a:r>
              <a:rPr lang="en-GB" b="0" i="0" dirty="0">
                <a:solidFill>
                  <a:srgbClr val="CC0000"/>
                </a:solidFill>
                <a:effectLst/>
                <a:latin typeface="Söhne"/>
              </a:rPr>
              <a:t> method emphasizes the concept of linear combinations of the columns of the matrix, while the traditional row-by-vector method emphasizes the dot product between rows of the matrix and the vector. </a:t>
            </a:r>
          </a:p>
          <a:p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The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second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one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is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Söhne"/>
              </a:rPr>
              <a:t> </a:t>
            </a:r>
            <a:r>
              <a:rPr lang="en-GB" b="0" i="0" dirty="0">
                <a:solidFill>
                  <a:srgbClr val="CC0000"/>
                </a:solidFill>
                <a:effectLst/>
                <a:latin typeface="Söhne"/>
              </a:rPr>
              <a:t>more intuitive way to understand </a:t>
            </a:r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linear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rgbClr val="CC0000"/>
                </a:solidFill>
                <a:effectLst/>
                <a:latin typeface="Söhne"/>
              </a:rPr>
              <a:t>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279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This gives rise to many important uses of matrices: for example, the product of a scaling matrix and a rotation matrix is a scale-and-rotate matrix.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376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effectLst/>
                <a:latin typeface="-apple-system"/>
              </a:rPr>
              <a:t>We saw vectors as </a:t>
            </a:r>
            <a:r>
              <a:rPr lang="en-GB" b="1" i="0" dirty="0">
                <a:effectLst/>
                <a:latin typeface="-apple-system"/>
              </a:rPr>
              <a:t>points in space</a:t>
            </a:r>
            <a:r>
              <a:rPr lang="en-US" altLang="zh-CN" dirty="0">
                <a:latin typeface="-apple-system"/>
              </a:rPr>
              <a:t>,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and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matrices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as </a:t>
            </a:r>
            <a:r>
              <a:rPr lang="en-US" altLang="zh-CN" b="1" i="0" dirty="0">
                <a:effectLst/>
                <a:latin typeface="-apple-system"/>
              </a:rPr>
              <a:t>vector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1" i="0" dirty="0">
                <a:effectLst/>
                <a:latin typeface="-apple-system"/>
              </a:rPr>
              <a:t>transform</a:t>
            </a:r>
            <a:r>
              <a:rPr lang="en-GB" b="1" i="0" dirty="0">
                <a:effectLst/>
                <a:latin typeface="-apple-system"/>
              </a:rPr>
              <a:t> in space</a:t>
            </a:r>
            <a:r>
              <a:rPr lang="en-GB" b="0" i="0" dirty="0">
                <a:effectLst/>
                <a:latin typeface="-apple-system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i="0" dirty="0">
              <a:effectLst/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16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We can visually verify that composition of matrices by multiplication is the composition of their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745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>
                <a:effectLst/>
                <a:latin typeface="var(--jp-content-font-family)"/>
              </a:rPr>
              <a:t>but this is less often useful.</a:t>
            </a:r>
          </a:p>
          <a:p>
            <a:pPr algn="l"/>
            <a:endParaRPr lang="en-GB" b="0" i="0" dirty="0">
              <a:effectLst/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89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effectLst/>
                <a:latin typeface="-apple-system"/>
              </a:rPr>
              <a:t>I</a:t>
            </a:r>
            <a:r>
              <a:rPr lang="en-GB" b="0" i="0" dirty="0">
                <a:effectLst/>
                <a:latin typeface="-apple-system"/>
              </a:rPr>
              <a:t>n the multidimensional case, to get a useful measure of spread of a </a:t>
            </a:r>
            <a:r>
              <a:rPr lang="en-GB" b="0" i="0" dirty="0" err="1">
                <a:effectLst/>
                <a:latin typeface="MJXc-TeX-math-I"/>
              </a:rPr>
              <a:t>N</a:t>
            </a:r>
            <a:r>
              <a:rPr lang="en-GB" b="0" i="0" dirty="0" err="1">
                <a:effectLst/>
                <a:latin typeface="MJXc-TeX-main-R"/>
              </a:rPr>
              <a:t>×</a:t>
            </a:r>
            <a:r>
              <a:rPr lang="en-GB" b="0" i="0" dirty="0" err="1">
                <a:effectLst/>
                <a:latin typeface="MJXc-TeX-math-I"/>
              </a:rPr>
              <a:t>d</a:t>
            </a:r>
            <a:r>
              <a:rPr lang="zh-CN" altLang="en-US" b="0" i="0" dirty="0">
                <a:effectLst/>
                <a:latin typeface="MJXc-TeX-math-I"/>
              </a:rPr>
              <a:t> </a:t>
            </a:r>
            <a:r>
              <a:rPr lang="en-GB" b="0" i="0" dirty="0">
                <a:effectLst/>
                <a:latin typeface="-apple-system"/>
              </a:rPr>
              <a:t>data matrix we need to compute the </a:t>
            </a:r>
            <a:r>
              <a:rPr lang="en-GB" b="0" i="1" dirty="0">
                <a:effectLst/>
                <a:latin typeface="-apple-system"/>
              </a:rPr>
              <a:t>covariance</a:t>
            </a:r>
            <a:r>
              <a:rPr lang="en-GB" b="0" i="0" dirty="0">
                <a:effectLst/>
                <a:latin typeface="-apple-system"/>
              </a:rPr>
              <a:t> of every dimension with every other dimension. This is the average squared difference of each column of data from the average of every column.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252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78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Body text Arial 24pt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B56C0B-E29B-4842-B417-82BD0105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1A95EC-0528-8A4C-BE96-445CDE1B3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133" y="1705342"/>
            <a:ext cx="11487066" cy="4932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Body text Arial 24pt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15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87" r:id="rId7"/>
    <p:sldLayoutId id="2147483656" r:id="rId8"/>
    <p:sldLayoutId id="2147483684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ZHQObOWTQDPD3MizzM2xVFitgF8hE_ab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math.uwaterloo.ca/~hwolkowi/matrixcookbook.pdf" TargetMode="External"/><Relationship Id="rId4" Type="http://schemas.openxmlformats.org/officeDocument/2006/relationships/hyperlink" Target="http://stanford.edu/~boyd/vmls/vmls.pdf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i="0" dirty="0">
                <a:effectLst/>
                <a:latin typeface="-apple-system"/>
              </a:rPr>
              <a:t>Introduction to Data Science and Systems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7" y="2576945"/>
            <a:ext cx="6352640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Lecture 1:Vectors and Matrices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1FC6E-FCE7-8227-A3BF-138CAED1187D}"/>
              </a:ext>
            </a:extLst>
          </p:cNvPr>
          <p:cNvSpPr txBox="1"/>
          <p:nvPr/>
        </p:nvSpPr>
        <p:spPr>
          <a:xfrm>
            <a:off x="690417" y="3269795"/>
            <a:ext cx="618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Dr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GB" altLang="zh-CN" dirty="0">
                <a:solidFill>
                  <a:schemeClr val="tx1"/>
                </a:solidFill>
              </a:rPr>
              <a:t>Nicolas Pugeault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Intended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what a vector is and a what a vector space is</a:t>
            </a:r>
          </a:p>
          <a:p>
            <a:r>
              <a:rPr lang="en-US" dirty="0">
                <a:solidFill>
                  <a:schemeClr val="tx1"/>
                </a:solidFill>
              </a:rPr>
              <a:t>the standard operations on vectors: addition and multiplication</a:t>
            </a:r>
          </a:p>
          <a:p>
            <a:r>
              <a:rPr lang="en-US" dirty="0">
                <a:solidFill>
                  <a:schemeClr val="tx1"/>
                </a:solidFill>
              </a:rPr>
              <a:t>what a norm is and how it can be used to measure vectors</a:t>
            </a:r>
          </a:p>
          <a:p>
            <a:r>
              <a:rPr lang="en-US" dirty="0">
                <a:solidFill>
                  <a:schemeClr val="tx1"/>
                </a:solidFill>
              </a:rPr>
              <a:t>what an inner product is and how it gives rise to geometry of vectors</a:t>
            </a:r>
          </a:p>
          <a:p>
            <a:r>
              <a:rPr lang="en-US" dirty="0">
                <a:solidFill>
                  <a:schemeClr val="tx1"/>
                </a:solidFill>
              </a:rPr>
              <a:t>how mathematical vectors map onto numerical arrays</a:t>
            </a:r>
          </a:p>
          <a:p>
            <a:r>
              <a:rPr lang="en-US" dirty="0">
                <a:solidFill>
                  <a:schemeClr val="tx1"/>
                </a:solidFill>
              </a:rPr>
              <a:t>the different p-norms and their uses</a:t>
            </a:r>
          </a:p>
          <a:p>
            <a:r>
              <a:rPr lang="en-US" dirty="0">
                <a:solidFill>
                  <a:schemeClr val="tx1"/>
                </a:solidFill>
              </a:rPr>
              <a:t>important computational uses of vector representations</a:t>
            </a:r>
          </a:p>
          <a:p>
            <a:r>
              <a:rPr lang="en-US" dirty="0">
                <a:solidFill>
                  <a:schemeClr val="tx1"/>
                </a:solidFill>
              </a:rPr>
              <a:t>how to </a:t>
            </a:r>
            <a:r>
              <a:rPr lang="en-US" dirty="0" err="1">
                <a:solidFill>
                  <a:schemeClr val="tx1"/>
                </a:solidFill>
              </a:rPr>
              <a:t>characterise</a:t>
            </a:r>
            <a:r>
              <a:rPr lang="en-US" dirty="0">
                <a:solidFill>
                  <a:schemeClr val="tx1"/>
                </a:solidFill>
              </a:rPr>
              <a:t> vector data with a mean vector and a covariance matrix</a:t>
            </a:r>
          </a:p>
          <a:p>
            <a:r>
              <a:rPr lang="en-US" dirty="0">
                <a:solidFill>
                  <a:schemeClr val="tx1"/>
                </a:solidFill>
              </a:rPr>
              <a:t>the properties of high-dimensional vector spaces</a:t>
            </a:r>
          </a:p>
          <a:p>
            <a:r>
              <a:rPr lang="en-US" dirty="0">
                <a:solidFill>
                  <a:schemeClr val="tx1"/>
                </a:solidFill>
              </a:rPr>
              <a:t>the basic notation for matrices</a:t>
            </a:r>
          </a:p>
          <a:p>
            <a:r>
              <a:rPr lang="en-US" dirty="0">
                <a:solidFill>
                  <a:schemeClr val="tx1"/>
                </a:solidFill>
              </a:rPr>
              <a:t>the view of matrices as linear maps</a:t>
            </a:r>
          </a:p>
          <a:p>
            <a:r>
              <a:rPr lang="en-US" dirty="0">
                <a:solidFill>
                  <a:schemeClr val="tx1"/>
                </a:solidFill>
              </a:rPr>
              <a:t>how basic geometric transforms are implemented using matrices</a:t>
            </a:r>
          </a:p>
          <a:p>
            <a:r>
              <a:rPr lang="en-US" dirty="0">
                <a:solidFill>
                  <a:schemeClr val="tx1"/>
                </a:solidFill>
              </a:rPr>
              <a:t>how matrix multiplication is defined and its algebraic properties</a:t>
            </a:r>
          </a:p>
          <a:p>
            <a:r>
              <a:rPr lang="en-US" dirty="0">
                <a:solidFill>
                  <a:schemeClr val="tx1"/>
                </a:solidFill>
              </a:rPr>
              <a:t>the basic anatomy of matrices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</a:rPr>
              <a:t>Text, as represented by strings in memory, has </a:t>
            </a:r>
            <a:r>
              <a:rPr lang="en-GB" b="0" i="1" dirty="0">
                <a:effectLst/>
              </a:rPr>
              <a:t>weak structure</a:t>
            </a:r>
            <a:r>
              <a:rPr lang="en-GB" b="0" i="0" dirty="0">
                <a:effectLst/>
              </a:rPr>
              <a:t>. </a:t>
            </a:r>
          </a:p>
          <a:p>
            <a:r>
              <a:rPr lang="en-GB" b="0" i="0" dirty="0">
                <a:effectLst/>
              </a:rPr>
              <a:t>There are </a:t>
            </a:r>
            <a:r>
              <a:rPr lang="en-GB" b="1" i="0" dirty="0">
                <a:effectLst/>
              </a:rPr>
              <a:t>comparison functions</a:t>
            </a:r>
            <a:r>
              <a:rPr lang="en-GB" b="0" i="0" dirty="0">
                <a:effectLst/>
              </a:rPr>
              <a:t> for strings (e.g. edit distance, Hamming distance)</a:t>
            </a:r>
            <a:r>
              <a:rPr lang="en-US" altLang="zh-CN" b="0" i="0" dirty="0">
                <a:effectLst/>
              </a:rPr>
              <a:t>,</a:t>
            </a:r>
            <a:r>
              <a:rPr lang="zh-CN" altLang="en-US" b="0" i="0" dirty="0">
                <a:effectLst/>
              </a:rPr>
              <a:t> </a:t>
            </a:r>
            <a:r>
              <a:rPr lang="en-US" altLang="zh-CN" b="0" i="0" dirty="0">
                <a:effectLst/>
              </a:rPr>
              <a:t>but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solidFill>
                  <a:srgbClr val="FF0000"/>
                </a:solidFill>
                <a:effectLst/>
                <a:latin typeface="-apple-system"/>
              </a:rPr>
              <a:t>only character-level semantics</a:t>
            </a:r>
            <a:endParaRPr lang="en-GB" b="0" i="0" dirty="0">
              <a:solidFill>
                <a:srgbClr val="FF0000"/>
              </a:solidFill>
              <a:effectLst/>
            </a:endParaRPr>
          </a:p>
          <a:p>
            <a:r>
              <a:rPr lang="en-GB" b="1" i="0" dirty="0">
                <a:effectLst/>
                <a:latin typeface="-apple-system"/>
              </a:rPr>
              <a:t>String operations</a:t>
            </a:r>
            <a:r>
              <a:rPr lang="en-GB" b="0" i="0" dirty="0">
                <a:effectLst/>
                <a:latin typeface="-apple-system"/>
              </a:rPr>
              <a:t> are character-level operations like concatenation or reversal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but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not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useful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for</a:t>
            </a:r>
            <a:r>
              <a:rPr lang="en-GB" b="0" i="0" dirty="0">
                <a:effectLst/>
                <a:latin typeface="-apple-system"/>
              </a:rPr>
              <a:t> machine translation system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9BB66-D413-71EC-961D-52D679B9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67088"/>
            <a:ext cx="5181600" cy="325145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 anchor="t">
            <a:normAutofit/>
          </a:bodyPr>
          <a:lstStyle/>
          <a:p>
            <a:r>
              <a:rPr lang="en-GB" b="1" i="0">
                <a:effectLst/>
              </a:rPr>
              <a:t>Example: Text and translation</a:t>
            </a:r>
          </a:p>
        </p:txBody>
      </p:sp>
    </p:spTree>
    <p:extLst>
      <p:ext uri="{BB962C8B-B14F-4D97-AF65-F5344CB8AC3E}">
        <p14:creationId xmlns:p14="http://schemas.microsoft.com/office/powerpoint/2010/main" val="99160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-apple-system"/>
              </a:rPr>
              <a:t>Words aren't enough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1" dirty="0">
                <a:effectLst/>
                <a:latin typeface="-apple-system"/>
              </a:rPr>
              <a:t>Original</a:t>
            </a:r>
            <a:endParaRPr lang="en-GB" b="0" i="0" dirty="0">
              <a:effectLst/>
              <a:latin typeface="-apple-system"/>
            </a:endParaRPr>
          </a:p>
          <a:p>
            <a:pPr lvl="1"/>
            <a:r>
              <a:rPr lang="en-GB" dirty="0">
                <a:effectLst/>
              </a:rPr>
              <a:t>"The craft held fast to </a:t>
            </a:r>
            <a:r>
              <a:rPr lang="en-GB" dirty="0">
                <a:solidFill>
                  <a:schemeClr val="accent6"/>
                </a:solidFill>
                <a:effectLst/>
              </a:rPr>
              <a:t>the bank of the burn</a:t>
            </a:r>
            <a:r>
              <a:rPr lang="en-GB" dirty="0">
                <a:effectLst/>
              </a:rPr>
              <a:t>."</a:t>
            </a:r>
          </a:p>
          <a:p>
            <a:pPr lvl="1"/>
            <a:r>
              <a:rPr lang="en-GB" i="1" dirty="0">
                <a:effectLst/>
              </a:rPr>
              <a:t>(the vessel stayed moored to </a:t>
            </a:r>
            <a:r>
              <a:rPr lang="en-GB" i="1" dirty="0">
                <a:solidFill>
                  <a:schemeClr val="accent6"/>
                </a:solidFill>
                <a:effectLst/>
              </a:rPr>
              <a:t>the edge of the stream</a:t>
            </a:r>
            <a:r>
              <a:rPr lang="en-GB" i="1" dirty="0">
                <a:effectLst/>
              </a:rPr>
              <a:t>)</a:t>
            </a:r>
            <a:endParaRPr lang="en-GB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1" dirty="0">
                <a:effectLst/>
                <a:latin typeface="-apple-system"/>
              </a:rPr>
              <a:t>Dictionary lookup (</a:t>
            </a:r>
            <a:r>
              <a:rPr lang="en-GB" b="0" i="1" dirty="0" err="1">
                <a:effectLst/>
                <a:latin typeface="-apple-system"/>
              </a:rPr>
              <a:t>naiive</a:t>
            </a:r>
            <a:r>
              <a:rPr lang="en-GB" b="0" i="1" dirty="0">
                <a:effectLst/>
                <a:latin typeface="-apple-system"/>
              </a:rPr>
              <a:t>)</a:t>
            </a:r>
            <a:endParaRPr lang="en-GB" b="0" i="0" dirty="0">
              <a:effectLst/>
              <a:latin typeface="-apple-system"/>
            </a:endParaRPr>
          </a:p>
          <a:p>
            <a:pPr lvl="1"/>
            <a:r>
              <a:rPr lang="en-GB" dirty="0">
                <a:effectLst/>
              </a:rPr>
              <a:t>French: "</a:t>
            </a:r>
            <a:r>
              <a:rPr lang="en-GB" dirty="0" err="1">
                <a:effectLst/>
              </a:rPr>
              <a:t>L'artisanat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tenu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rapide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à</a:t>
            </a:r>
            <a:r>
              <a:rPr lang="en-GB" dirty="0">
                <a:effectLst/>
              </a:rPr>
              <a:t> la Banque de la </a:t>
            </a:r>
            <a:r>
              <a:rPr lang="en-GB" dirty="0" err="1">
                <a:effectLst/>
              </a:rPr>
              <a:t>brûlure</a:t>
            </a:r>
            <a:r>
              <a:rPr lang="en-GB" dirty="0">
                <a:effectLst/>
              </a:rPr>
              <a:t>."</a:t>
            </a:r>
          </a:p>
          <a:p>
            <a:pPr lvl="1"/>
            <a:r>
              <a:rPr lang="en-GB" i="1" dirty="0">
                <a:effectLst/>
              </a:rPr>
              <a:t>(the artisanal skill held quickly to </a:t>
            </a:r>
            <a:r>
              <a:rPr lang="en-GB" i="1" dirty="0">
                <a:solidFill>
                  <a:schemeClr val="accent6"/>
                </a:solidFill>
                <a:effectLst/>
              </a:rPr>
              <a:t>the financial institution of the burn wounds</a:t>
            </a:r>
            <a:r>
              <a:rPr lang="en-GB" i="1" dirty="0">
                <a:effectLst/>
              </a:rPr>
              <a:t>)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Danish: "</a:t>
            </a:r>
            <a:r>
              <a:rPr lang="en-GB" dirty="0" err="1">
                <a:effectLst/>
              </a:rPr>
              <a:t>Håndværket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holdt</a:t>
            </a:r>
            <a:r>
              <a:rPr lang="en-GB" dirty="0">
                <a:effectLst/>
              </a:rPr>
              <a:t> fast </a:t>
            </a:r>
            <a:r>
              <a:rPr lang="en-GB" dirty="0" err="1">
                <a:effectLst/>
              </a:rPr>
              <a:t>til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banken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af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brænden</a:t>
            </a:r>
            <a:r>
              <a:rPr lang="en-GB" dirty="0">
                <a:effectLst/>
              </a:rPr>
              <a:t>"</a:t>
            </a:r>
          </a:p>
          <a:p>
            <a:pPr lvl="1"/>
            <a:r>
              <a:rPr lang="en-GB" i="1" dirty="0">
                <a:effectLst/>
              </a:rPr>
              <a:t>(The craftmanship held fast </a:t>
            </a:r>
            <a:r>
              <a:rPr lang="en-GB" i="1" dirty="0">
                <a:solidFill>
                  <a:schemeClr val="accent6"/>
                </a:solidFill>
                <a:effectLst/>
              </a:rPr>
              <a:t>to the bank [financial institution] of fire</a:t>
            </a:r>
            <a:r>
              <a:rPr lang="en-GB" i="1" dirty="0">
                <a:effectLst/>
              </a:rPr>
              <a:t>)</a:t>
            </a:r>
            <a:endParaRPr lang="en-GB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1" dirty="0">
                <a:effectLst/>
                <a:latin typeface="-apple-system"/>
              </a:rPr>
              <a:t>Correct(</a:t>
            </a:r>
            <a:r>
              <a:rPr lang="en-GB" b="0" i="1" dirty="0" err="1">
                <a:effectLst/>
                <a:latin typeface="-apple-system"/>
              </a:rPr>
              <a:t>ish</a:t>
            </a:r>
            <a:r>
              <a:rPr lang="en-GB" b="0" i="1" dirty="0">
                <a:effectLst/>
                <a:latin typeface="-apple-system"/>
              </a:rPr>
              <a:t>)</a:t>
            </a:r>
            <a:endParaRPr lang="en-GB" b="0" i="0" dirty="0">
              <a:effectLst/>
              <a:latin typeface="-apple-system"/>
            </a:endParaRPr>
          </a:p>
          <a:p>
            <a:pPr lvl="1"/>
            <a:r>
              <a:rPr lang="en-GB" dirty="0">
                <a:effectLst/>
              </a:rPr>
              <a:t>French: "Le bateau se </a:t>
            </a:r>
            <a:r>
              <a:rPr lang="en-GB" dirty="0" err="1">
                <a:effectLst/>
              </a:rPr>
              <a:t>tenait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fermement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à</a:t>
            </a:r>
            <a:r>
              <a:rPr lang="en-GB" dirty="0">
                <a:effectLst/>
              </a:rPr>
              <a:t> la rive du </a:t>
            </a:r>
            <a:r>
              <a:rPr lang="en-GB" dirty="0" err="1">
                <a:effectLst/>
              </a:rPr>
              <a:t>ruisseau</a:t>
            </a:r>
            <a:r>
              <a:rPr lang="en-GB" dirty="0">
                <a:effectLst/>
              </a:rPr>
              <a:t>."</a:t>
            </a:r>
          </a:p>
          <a:p>
            <a:pPr lvl="1"/>
            <a:r>
              <a:rPr lang="en-GB" i="1" dirty="0">
                <a:effectLst/>
              </a:rPr>
              <a:t>(the boat was firmly attached to the </a:t>
            </a:r>
            <a:r>
              <a:rPr lang="en-GB" i="1" dirty="0">
                <a:solidFill>
                  <a:schemeClr val="accent6"/>
                </a:solidFill>
                <a:effectLst/>
              </a:rPr>
              <a:t>riverbank</a:t>
            </a:r>
            <a:r>
              <a:rPr lang="en-GB" i="1" dirty="0">
                <a:effectLst/>
              </a:rPr>
              <a:t>)</a:t>
            </a:r>
            <a:endParaRPr lang="en-GB" dirty="0">
              <a:effectLst/>
            </a:endParaRPr>
          </a:p>
          <a:p>
            <a:pPr lvl="1"/>
            <a:r>
              <a:rPr lang="en-GB" dirty="0">
                <a:effectLst/>
              </a:rPr>
              <a:t>Danish: "</a:t>
            </a:r>
            <a:r>
              <a:rPr lang="en-GB" dirty="0" err="1">
                <a:effectLst/>
              </a:rPr>
              <a:t>Farttøjet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holdt</a:t>
            </a:r>
            <a:r>
              <a:rPr lang="en-GB" dirty="0">
                <a:effectLst/>
              </a:rPr>
              <a:t> fast </a:t>
            </a:r>
            <a:r>
              <a:rPr lang="en-GB" dirty="0" err="1">
                <a:effectLst/>
              </a:rPr>
              <a:t>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bredden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af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åen</a:t>
            </a:r>
            <a:r>
              <a:rPr lang="en-GB" dirty="0">
                <a:effectLst/>
              </a:rPr>
              <a:t>"</a:t>
            </a:r>
          </a:p>
          <a:p>
            <a:pPr lvl="1"/>
            <a:r>
              <a:rPr lang="en-GB" i="1" dirty="0">
                <a:effectLst/>
              </a:rPr>
              <a:t>(The vessel held fast at </a:t>
            </a:r>
            <a:r>
              <a:rPr lang="en-GB" i="1" dirty="0">
                <a:solidFill>
                  <a:schemeClr val="accent6"/>
                </a:solidFill>
                <a:effectLst/>
              </a:rPr>
              <a:t>the bank of the river</a:t>
            </a:r>
            <a:r>
              <a:rPr lang="en-GB" i="1" dirty="0">
                <a:effectLst/>
              </a:rPr>
              <a:t>)</a:t>
            </a:r>
            <a:endParaRPr lang="en-GB" dirty="0">
              <a:effectLst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1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Solution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--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GB" altLang="zh-CN" dirty="0">
                <a:solidFill>
                  <a:schemeClr val="tx1"/>
                </a:solidFill>
              </a:rPr>
              <a:t>to place them in a vector 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-apple-system"/>
              </a:rPr>
              <a:t>Imbue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text fragments with additional mathematical structure -- </a:t>
            </a:r>
            <a:r>
              <a:rPr lang="en-GB" b="1" i="0" dirty="0">
                <a:effectLst/>
                <a:latin typeface="-apple-system"/>
              </a:rPr>
              <a:t>to place them in a vector space</a:t>
            </a:r>
            <a:endParaRPr lang="en-GB" b="0" i="0" dirty="0">
              <a:effectLst/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Fragments might be words, partial words or whole sentences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E5C5C-3D0F-1ADB-C1FB-AE00A960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3" y="3116263"/>
            <a:ext cx="10203873" cy="311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78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T</a:t>
            </a:r>
            <a:r>
              <a:rPr lang="en-US" dirty="0">
                <a:solidFill>
                  <a:schemeClr val="tx1"/>
                </a:solidFill>
              </a:rPr>
              <a:t>he structure of a (topological) vector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</a:rPr>
              <a:t>W</a:t>
            </a:r>
            <a:r>
              <a:rPr lang="en-GB" b="0" i="0" dirty="0">
                <a:effectLst/>
              </a:rPr>
              <a:t>hat words are like </a:t>
            </a:r>
            <a:r>
              <a:rPr lang="en-GB" b="0" i="0" dirty="0">
                <a:solidFill>
                  <a:schemeClr val="accent6"/>
                </a:solidFill>
                <a:effectLst/>
              </a:rPr>
              <a:t>salamander</a:t>
            </a:r>
            <a:r>
              <a:rPr lang="en-GB" b="0" i="0" dirty="0">
                <a:effectLst/>
              </a:rPr>
              <a:t>? </a:t>
            </a:r>
          </a:p>
          <a:p>
            <a:pPr lvl="1"/>
            <a:r>
              <a:rPr lang="en-US" altLang="zh-CN" b="1" dirty="0"/>
              <a:t>Distance</a:t>
            </a:r>
            <a:r>
              <a:rPr lang="en-US" altLang="zh-CN" b="1" i="0" dirty="0">
                <a:effectLst/>
              </a:rPr>
              <a:t>/metric</a:t>
            </a:r>
            <a:r>
              <a:rPr lang="en-GB" b="1" i="0" dirty="0">
                <a:effectLst/>
              </a:rPr>
              <a:t> functions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6"/>
                </a:solidFill>
              </a:rPr>
              <a:t>norm</a:t>
            </a:r>
          </a:p>
          <a:p>
            <a:pPr lvl="1"/>
            <a:r>
              <a:rPr lang="en-US" altLang="zh-CN" b="0" i="0" dirty="0">
                <a:effectLst/>
              </a:rPr>
              <a:t>E.g.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the neighbourhood of the vector corresponding to salamander, which might include words like axolotl or waterdog</a:t>
            </a:r>
            <a:endParaRPr lang="en-GB" b="0" i="0" dirty="0">
              <a:solidFill>
                <a:schemeClr val="accent6"/>
              </a:solidFill>
              <a:effectLst/>
            </a:endParaRPr>
          </a:p>
          <a:p>
            <a:endParaRPr lang="en-GB" b="0" i="0" dirty="0">
              <a:effectLst/>
            </a:endParaRPr>
          </a:p>
          <a:p>
            <a:r>
              <a:rPr lang="en-GB" b="0" i="0" dirty="0">
                <a:effectLst/>
              </a:rPr>
              <a:t>What is the equivalent of a </a:t>
            </a:r>
            <a:r>
              <a:rPr lang="en-GB" dirty="0"/>
              <a:t>king</a:t>
            </a:r>
            <a:r>
              <a:rPr lang="en-GB" b="0" i="0" dirty="0">
                <a:effectLst/>
              </a:rPr>
              <a:t>, but with a </a:t>
            </a:r>
            <a:r>
              <a:rPr lang="en-GB" dirty="0"/>
              <a:t>woman</a:t>
            </a:r>
            <a:r>
              <a:rPr lang="en-GB" b="0" i="0" dirty="0">
                <a:effectLst/>
              </a:rPr>
              <a:t> instead of a </a:t>
            </a:r>
            <a:r>
              <a:rPr lang="en-GB" dirty="0"/>
              <a:t>man</a:t>
            </a:r>
            <a:r>
              <a:rPr lang="en-GB" b="0" i="0" dirty="0">
                <a:effectLst/>
              </a:rPr>
              <a:t>? </a:t>
            </a:r>
          </a:p>
          <a:p>
            <a:pPr lvl="1"/>
            <a:r>
              <a:rPr lang="en-US" altLang="zh-CN" b="1" dirty="0"/>
              <a:t>Operation</a:t>
            </a:r>
            <a:r>
              <a:rPr lang="zh-CN" altLang="en-US" b="1" dirty="0"/>
              <a:t> </a:t>
            </a:r>
            <a:r>
              <a:rPr lang="en-US" altLang="zh-CN" b="1" dirty="0"/>
              <a:t>functions:</a:t>
            </a:r>
            <a:r>
              <a:rPr lang="zh-CN" altLang="en-US" b="1" dirty="0"/>
              <a:t> </a:t>
            </a:r>
            <a:r>
              <a:rPr lang="en-US" altLang="zh-CN" dirty="0">
                <a:solidFill>
                  <a:schemeClr val="accent6"/>
                </a:solidFill>
              </a:rPr>
              <a:t>subtraction,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mean</a:t>
            </a:r>
            <a:endParaRPr lang="en-GB" dirty="0">
              <a:solidFill>
                <a:schemeClr val="accent6"/>
              </a:solidFill>
            </a:endParaRPr>
          </a:p>
          <a:p>
            <a:pPr lvl="1"/>
            <a:r>
              <a:rPr lang="en-GB" b="0" i="0" dirty="0">
                <a:effectLst/>
              </a:rPr>
              <a:t>Famously, the original word2vec paper should that on their test data, the equation</a:t>
            </a:r>
            <a:endParaRPr lang="en-GB" dirty="0"/>
          </a:p>
          <a:p>
            <a:pPr marL="0" indent="0" algn="ctr">
              <a:buNone/>
            </a:pPr>
            <a:r>
              <a:rPr lang="en-GB" b="0" i="0" dirty="0">
                <a:effectLst/>
              </a:rPr>
              <a:t>King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−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Man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+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Woman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=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Queen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Vector spaces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V</a:t>
            </a:r>
            <a:r>
              <a:rPr lang="en-US" b="1" dirty="0">
                <a:solidFill>
                  <a:schemeClr val="tx1"/>
                </a:solidFill>
              </a:rPr>
              <a:t>ectors</a:t>
            </a:r>
            <a:r>
              <a:rPr lang="en-US" dirty="0">
                <a:solidFill>
                  <a:schemeClr val="tx1"/>
                </a:solidFill>
              </a:rPr>
              <a:t> to be ordered tuples of real numbers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A vector has a fixed dimension </a:t>
            </a:r>
            <a:r>
              <a:rPr lang="en-GB" b="0" i="0" dirty="0">
                <a:effectLst/>
                <a:latin typeface="MJXc-TeX-math-I"/>
              </a:rPr>
              <a:t>n</a:t>
            </a:r>
            <a:endParaRPr lang="en-US" b="0" i="0" dirty="0">
              <a:solidFill>
                <a:schemeClr val="tx1"/>
              </a:solidFill>
              <a:effectLst/>
              <a:latin typeface="MJXc-TeX-math-I"/>
            </a:endParaRPr>
          </a:p>
          <a:p>
            <a:pPr lvl="1"/>
            <a:r>
              <a:rPr lang="en-US" altLang="zh-CN" dirty="0">
                <a:latin typeface="-apple-system"/>
              </a:rPr>
              <a:t>E</a:t>
            </a:r>
            <a:r>
              <a:rPr lang="en-GB" b="0" i="0" dirty="0">
                <a:effectLst/>
                <a:latin typeface="-apple-system"/>
              </a:rPr>
              <a:t>ach element of the vector as representing a distance in a </a:t>
            </a:r>
            <a:r>
              <a:rPr lang="en-GB" b="1" i="0" dirty="0">
                <a:effectLst/>
                <a:latin typeface="-apple-system"/>
              </a:rPr>
              <a:t>direction orthogonal</a:t>
            </a:r>
            <a:r>
              <a:rPr lang="en-GB" b="0" i="0" dirty="0">
                <a:effectLst/>
                <a:latin typeface="-apple-system"/>
              </a:rPr>
              <a:t> to all the other elements.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Orthogonal just means "independent", or, geometrically speaking "at 90 degrees".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We write vectors with a bold lower case letter:</a:t>
            </a:r>
            <a:br>
              <a:rPr lang="en-GB" b="0" i="0" dirty="0">
                <a:effectLst/>
                <a:latin typeface="-apple-system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98AC5-F545-AC27-0E98-5B150DED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950" y="2149548"/>
            <a:ext cx="3147314" cy="4873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A8332A-7F3B-0BF4-AF36-7833D1CF0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925" y="5230811"/>
            <a:ext cx="2922182" cy="8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7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Vector spaces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For example, a length-3 vector might be used to represent a spatial position in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Cartesian</a:t>
            </a:r>
            <a:r>
              <a:rPr lang="en-GB" b="0" i="0" dirty="0">
                <a:effectLst/>
                <a:latin typeface="-apple-system"/>
              </a:rPr>
              <a:t> coordinates, with three orthogonal measurements for each vector. </a:t>
            </a:r>
          </a:p>
          <a:p>
            <a:endParaRPr lang="en-GB" dirty="0">
              <a:solidFill>
                <a:schemeClr val="tx1"/>
              </a:solidFill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Consider the 3D vector [5, 7, 3]</a:t>
            </a:r>
          </a:p>
          <a:p>
            <a:endParaRPr lang="en-GB" dirty="0">
              <a:solidFill>
                <a:schemeClr val="tx1"/>
              </a:solidFill>
              <a:latin typeface="-apple-system"/>
            </a:endParaRPr>
          </a:p>
          <a:p>
            <a:endParaRPr lang="en-GB" dirty="0">
              <a:solidFill>
                <a:schemeClr val="tx1"/>
              </a:solidFill>
              <a:latin typeface="-apple-system"/>
            </a:endParaRPr>
          </a:p>
          <a:p>
            <a:endParaRPr lang="en-GB" dirty="0">
              <a:solidFill>
                <a:schemeClr val="tx1"/>
              </a:solidFill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Each of these vectors [1,0,0], [0,1,0], [0,0,1] is pointing in a independent direction (orthogonal direction) and has length one.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0CD7A-E628-63A5-D0D7-3F1853899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041" y="3429000"/>
            <a:ext cx="2041662" cy="94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7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Points in space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GB" b="1" i="0" dirty="0">
                    <a:effectLst/>
                    <a:latin typeface="-apple-system"/>
                  </a:rPr>
                  <a:t>Notation:</a:t>
                </a: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means the </a:t>
                </a:r>
                <a:r>
                  <a:rPr lang="en-US" dirty="0">
                    <a:solidFill>
                      <a:schemeClr val="accent6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set of real numbers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≥0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means the set of non-negative </a:t>
                </a:r>
                <a:r>
                  <a:rPr lang="en-US" dirty="0">
                    <a:solidFill>
                      <a:schemeClr val="accent6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reals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means the set of tuples of exactly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real numbers (</a:t>
                </a:r>
                <a:r>
                  <a:rPr lang="en-US" dirty="0">
                    <a:solidFill>
                      <a:schemeClr val="accent6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vector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means the set of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D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arrays (matrix) 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of real numbers with exactly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elements.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notation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says that the </a:t>
                </a:r>
                <a:r>
                  <a:rPr lang="en-US" dirty="0">
                    <a:solidFill>
                      <a:schemeClr val="accent6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operation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defines a map from a pair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dimensional vectors to a real number.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885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07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Points in space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Vector spaces</a:t>
                </a:r>
              </a:p>
              <a:p>
                <a:pPr marL="0" lvl="0" indent="0">
                  <a:buNone/>
                </a:pPr>
                <a:r>
                  <a:rPr lang="en-GB" b="0" i="0" dirty="0">
                    <a:effectLst/>
                    <a:latin typeface="-apple-system"/>
                  </a:rPr>
                  <a:t>Any vector of given dimension </a:t>
                </a:r>
                <a:r>
                  <a:rPr lang="en-GB" b="0" i="0" dirty="0">
                    <a:effectLst/>
                    <a:latin typeface="MJXc-TeX-math-I"/>
                  </a:rPr>
                  <a:t>n</a:t>
                </a:r>
                <a:r>
                  <a:rPr lang="en-GB" b="0" i="0" dirty="0">
                    <a:effectLst/>
                    <a:latin typeface="-apple-system"/>
                  </a:rPr>
                  <a:t> lies in a </a:t>
                </a:r>
                <a:r>
                  <a:rPr lang="en-GB" b="1" i="0" dirty="0">
                    <a:effectLst/>
                    <a:latin typeface="-apple-system"/>
                  </a:rPr>
                  <a:t>vector space</a:t>
                </a:r>
                <a:r>
                  <a:rPr lang="en-GB" b="0" i="0" dirty="0">
                    <a:effectLst/>
                    <a:latin typeface="-apple-system"/>
                  </a:rPr>
                  <a:t>, called </a:t>
                </a:r>
                <a:r>
                  <a:rPr lang="en-GB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/>
                  <a:t>along with the operations of</a:t>
                </a:r>
                <a:r>
                  <a:rPr lang="en-US" altLang="zh-CN" dirty="0"/>
                  <a:t>:</a:t>
                </a:r>
                <a:endParaRPr lang="en-GB" altLang="zh-CN" dirty="0"/>
              </a:p>
              <a:p>
                <a:pPr lvl="1"/>
                <a:r>
                  <a:rPr lang="en-US" b="1" dirty="0"/>
                  <a:t>scalar multiplication</a:t>
                </a:r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defined for any scalar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 For real vectors,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elementwis</a:t>
                </a:r>
                <a:r>
                  <a:rPr lang="en-US" altLang="zh-CN" dirty="0"/>
                  <a:t>e</a:t>
                </a:r>
                <a:r>
                  <a:rPr lang="en-US" dirty="0"/>
                  <a:t> scaling.</a:t>
                </a:r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lvl="1"/>
                <a:r>
                  <a:rPr lang="en-US" b="1" dirty="0"/>
                  <a:t>vector addition</a:t>
                </a:r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dirty="0"/>
                  <a:t> vectors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dirty="0"/>
                  <a:t> of equal dimension. For real vectors,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the elementwise sum</a:t>
                </a:r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885" t="-1923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66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Points in space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</a:rPr>
                  <a:t>T</a:t>
                </a:r>
                <a:r>
                  <a:rPr lang="en-US" b="1" dirty="0">
                    <a:solidFill>
                      <a:schemeClr val="tx1"/>
                    </a:solidFill>
                  </a:rPr>
                  <a:t>wo additional operations</a:t>
                </a: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altLang="zh-CN" dirty="0">
                    <a:effectLst/>
                    <a:ea typeface="Calibri" panose="020F0502020204030204" pitchFamily="34" charset="0"/>
                  </a:rPr>
                  <a:t>A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US" b="1" dirty="0">
                    <a:effectLst/>
                    <a:ea typeface="Calibri" panose="020F0502020204030204" pitchFamily="34" charset="0"/>
                  </a:rPr>
                  <a:t>norm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∥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∥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which allows the length of vectors to be measured.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0" lv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≥0</m:t>
                          </m:r>
                        </m:sub>
                      </m:sSub>
                    </m:oMath>
                  </m:oMathPara>
                </a14:m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342900" indent="-342900" algn="ctr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altLang="zh-CN" dirty="0">
                    <a:effectLst/>
                    <a:ea typeface="Calibri" panose="020F0502020204030204" pitchFamily="34" charset="0"/>
                  </a:rPr>
                  <a:t>A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n </a:t>
                </a:r>
                <a:r>
                  <a:rPr lang="en-US" b="1" dirty="0">
                    <a:effectLst/>
                    <a:ea typeface="Calibri" panose="020F0502020204030204" pitchFamily="34" charset="0"/>
                  </a:rPr>
                  <a:t>inner product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∣"/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𝐲</m:t>
                        </m:r>
                      </m:e>
                    </m:d>
                    <m:r>
                      <a:rPr lang="en-US" altLang="zh-CN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US" dirty="0">
                    <a:ea typeface="Calibri" panose="020F0502020204030204" pitchFamily="34" charset="0"/>
                  </a:rPr>
                  <a:t>⟨</a:t>
                </a:r>
                <a:r>
                  <a:rPr lang="en-US" altLang="zh-CN" b="1" dirty="0">
                    <a:ea typeface="Calibri" panose="020F0502020204030204" pitchFamily="34" charset="0"/>
                  </a:rPr>
                  <a:t>x</a:t>
                </a:r>
                <a:r>
                  <a:rPr lang="en-US" dirty="0">
                    <a:ea typeface="Calibri" panose="020F0502020204030204" pitchFamily="34" charset="0"/>
                  </a:rPr>
                  <a:t>,</a:t>
                </a:r>
                <a:r>
                  <a:rPr lang="en-US" altLang="zh-CN" b="1" dirty="0">
                    <a:ea typeface="Calibri" panose="020F0502020204030204" pitchFamily="34" charset="0"/>
                  </a:rPr>
                  <a:t>y</a:t>
                </a:r>
                <a:r>
                  <a:rPr lang="en-US" dirty="0">
                    <a:ea typeface="Calibri" panose="020F0502020204030204" pitchFamily="34" charset="0"/>
                  </a:rPr>
                  <a:t>⟩ </a:t>
                </a:r>
                <a:r>
                  <a:rPr lang="en-US" b="1" dirty="0">
                    <a:ea typeface="Calibri" panose="020F0502020204030204" pitchFamily="34" charset="0"/>
                  </a:rPr>
                  <a:t>​</a:t>
                </a:r>
                <a:r>
                  <a:rPr lang="en-US" dirty="0">
                    <a:ea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which allows the </a:t>
                </a:r>
                <a:r>
                  <a:rPr lang="en-US" dirty="0">
                    <a:solidFill>
                      <a:schemeClr val="accent6"/>
                    </a:solidFill>
                    <a:effectLst/>
                    <a:ea typeface="Calibri" panose="020F0502020204030204" pitchFamily="34" charset="0"/>
                  </a:rPr>
                  <a:t>angles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of two vectors to be compared. The inner product of two orthogonal vectors is 0 . For real vectors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0" lv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ℝ</m:t>
                      </m:r>
                    </m:oMath>
                  </m:oMathPara>
                </a14:m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0" lv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:endParaRPr lang="en-GB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:endParaRPr lang="en-GB" dirty="0"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885" t="-1099" r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12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Topological and inner product spaces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With a norm a vector space is a </a:t>
            </a:r>
            <a:r>
              <a:rPr lang="en-US" altLang="zh-CN" b="1" dirty="0">
                <a:solidFill>
                  <a:schemeClr val="tx1"/>
                </a:solidFill>
              </a:rPr>
              <a:t>normed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vector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space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b="1" dirty="0">
                <a:solidFill>
                  <a:schemeClr val="tx1"/>
                </a:solidFill>
              </a:rPr>
              <a:t>topological vector space</a:t>
            </a:r>
            <a:r>
              <a:rPr lang="en-US" dirty="0">
                <a:solidFill>
                  <a:schemeClr val="tx1"/>
                </a:solidFill>
              </a:rPr>
              <a:t>. </a:t>
            </a:r>
          </a:p>
          <a:p>
            <a:r>
              <a:rPr lang="en-US" dirty="0">
                <a:solidFill>
                  <a:schemeClr val="tx1"/>
                </a:solidFill>
              </a:rPr>
              <a:t>With an inner product, a vector space is an</a:t>
            </a:r>
            <a:r>
              <a:rPr lang="en-US" b="1" dirty="0">
                <a:solidFill>
                  <a:schemeClr val="tx1"/>
                </a:solidFill>
              </a:rPr>
              <a:t> inner product space</a:t>
            </a:r>
            <a:r>
              <a:rPr lang="en-US" dirty="0">
                <a:solidFill>
                  <a:schemeClr val="tx1"/>
                </a:solidFill>
              </a:rPr>
              <a:t>, and we can talk about the angle between two vectors.</a:t>
            </a:r>
            <a:endParaRPr lang="en-US" altLang="zh-CN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202122"/>
              </a:solidFill>
            </a:endParaRPr>
          </a:p>
          <a:p>
            <a:pPr marL="0" indent="0">
              <a:buNone/>
            </a:pPr>
            <a:endParaRPr lang="en-US" altLang="zh-CN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Topological/geometrical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space: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endParaRPr lang="en-GB" altLang="zh-CN" b="1" dirty="0">
              <a:solidFill>
                <a:srgbClr val="202122"/>
              </a:solidFill>
            </a:endParaRPr>
          </a:p>
          <a:p>
            <a:pPr lvl="1"/>
            <a:r>
              <a:rPr lang="en-US" altLang="zh-CN" b="1" dirty="0">
                <a:solidFill>
                  <a:srgbClr val="202122"/>
                </a:solidFill>
              </a:rPr>
              <a:t>a set whose elements are called points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202122"/>
                </a:solidFill>
              </a:rPr>
              <a:t>Metric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space:</a:t>
            </a:r>
          </a:p>
          <a:p>
            <a:pPr lvl="1"/>
            <a:r>
              <a:rPr lang="en-US" altLang="zh-CN" b="1" dirty="0">
                <a:solidFill>
                  <a:srgbClr val="202122"/>
                </a:solidFill>
              </a:rPr>
              <a:t>define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distance between points,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e.g.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norm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202122"/>
                </a:solidFill>
              </a:rPr>
              <a:t>Normed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vector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space:</a:t>
            </a:r>
          </a:p>
          <a:p>
            <a:pPr lvl="1"/>
            <a:r>
              <a:rPr lang="en-US" altLang="zh-CN" b="1" dirty="0">
                <a:solidFill>
                  <a:srgbClr val="202122"/>
                </a:solidFill>
              </a:rPr>
              <a:t>a vector space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with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norm</a:t>
            </a:r>
            <a:r>
              <a:rPr lang="zh-CN" altLang="en-US" b="1" dirty="0">
                <a:solidFill>
                  <a:srgbClr val="202122"/>
                </a:solidFill>
              </a:rPr>
              <a:t> </a:t>
            </a:r>
            <a:r>
              <a:rPr lang="en-US" altLang="zh-CN" b="1" dirty="0">
                <a:solidFill>
                  <a:srgbClr val="202122"/>
                </a:solidFill>
              </a:rPr>
              <a:t>defined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2CF8BC7-D522-6176-37A8-F8DC8E06E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791" y="3059113"/>
            <a:ext cx="31750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763F75D-3985-CF81-848F-107424318783}"/>
              </a:ext>
            </a:extLst>
          </p:cNvPr>
          <p:cNvSpPr/>
          <p:nvPr/>
        </p:nvSpPr>
        <p:spPr>
          <a:xfrm>
            <a:off x="7348417" y="4158841"/>
            <a:ext cx="3825689" cy="2386924"/>
          </a:xfrm>
          <a:prstGeom prst="ellipse">
            <a:avLst/>
          </a:prstGeom>
          <a:solidFill>
            <a:schemeClr val="accent1">
              <a:lumMod val="40000"/>
              <a:lumOff val="60000"/>
              <a:alpha val="54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2"/>
                </a:solidFill>
              </a:rPr>
              <a:t>Vector</a:t>
            </a:r>
            <a:r>
              <a:rPr lang="zh-CN" altLang="en-US" b="1" dirty="0">
                <a:solidFill>
                  <a:schemeClr val="tx2"/>
                </a:solidFill>
              </a:rPr>
              <a:t> </a:t>
            </a:r>
            <a:r>
              <a:rPr lang="en-US" altLang="zh-CN" b="1" dirty="0">
                <a:solidFill>
                  <a:schemeClr val="tx2"/>
                </a:solidFill>
              </a:rPr>
              <a:t>space</a:t>
            </a:r>
            <a:r>
              <a:rPr lang="zh-CN" altLang="en-US" b="1" dirty="0">
                <a:solidFill>
                  <a:schemeClr val="tx2"/>
                </a:solidFill>
              </a:rPr>
              <a:t>     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5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Topological and inner product spaces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5810250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</a:rPr>
                  <a:t>With a norm a vector space is a </a:t>
                </a:r>
                <a:r>
                  <a:rPr lang="en-GB" b="1" i="0" dirty="0">
                    <a:effectLst/>
                  </a:rPr>
                  <a:t>normed vector space</a:t>
                </a:r>
                <a:r>
                  <a:rPr lang="en-GB" b="0" i="0" dirty="0">
                    <a:effectLst/>
                  </a:rPr>
                  <a:t>.</a:t>
                </a:r>
              </a:p>
              <a:p>
                <a:r>
                  <a:rPr lang="en-GB" b="0" i="0" dirty="0">
                    <a:effectLst/>
                  </a:rPr>
                  <a:t>With an inner product, a vector space is an </a:t>
                </a:r>
                <a:r>
                  <a:rPr lang="en-GB" b="1" i="0" dirty="0">
                    <a:effectLst/>
                  </a:rPr>
                  <a:t>inner product space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Relationship between </a:t>
                </a:r>
                <a:r>
                  <a:rPr lang="en-US" b="1" dirty="0">
                    <a:solidFill>
                      <a:schemeClr val="tx1"/>
                    </a:solidFill>
                  </a:rPr>
                  <a:t>Inner Product </a:t>
                </a:r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:r>
                  <a:rPr lang="en-US" b="1" dirty="0">
                    <a:solidFill>
                      <a:schemeClr val="tx1"/>
                    </a:solidFill>
                  </a:rPr>
                  <a:t>Norm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If you have an inner product on a vector space, you can derive a norm from it: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b="1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altLang="zh-CN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⟩ </m:t>
                        </m:r>
                      </m:e>
                    </m:rad>
                  </m:oMath>
                </a14:m>
                <a:endParaRPr lang="en-GB" b="0" dirty="0">
                  <a:solidFill>
                    <a:schemeClr val="tx1"/>
                  </a:solidFill>
                  <a:effectLst/>
                </a:endParaRPr>
              </a:p>
              <a:p>
                <a:pPr lvl="1"/>
                <a:r>
                  <a:rPr lang="en-GB" dirty="0"/>
                  <a:t>However, not all norms come from an inner product. </a:t>
                </a:r>
                <a:br>
                  <a:rPr lang="en-GB" dirty="0"/>
                </a:b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F7AE7-790E-374F-98D3-31609964D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5810250" cy="4606925"/>
              </a:xfrm>
              <a:blipFill>
                <a:blip r:embed="rId3"/>
                <a:stretch>
                  <a:fillRect l="-1525" t="-1923" r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4E2FED7-CD8B-11DE-0F26-032599F01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528" y="1495812"/>
            <a:ext cx="5934722" cy="473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19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BE72B-8C78-33BB-E350-B664ED35D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934722" cy="4738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V</a:t>
            </a:r>
            <a:r>
              <a:rPr lang="en-US" dirty="0">
                <a:solidFill>
                  <a:schemeClr val="tx1"/>
                </a:solidFill>
              </a:rPr>
              <a:t>ectors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Points in space</a:t>
            </a:r>
          </a:p>
          <a:p>
            <a:r>
              <a:rPr lang="en-US" b="1" dirty="0">
                <a:solidFill>
                  <a:schemeClr val="tx1"/>
                </a:solidFill>
              </a:rPr>
              <a:t>Arrows pointing from the origin</a:t>
            </a:r>
          </a:p>
          <a:p>
            <a:r>
              <a:rPr lang="en-US" b="1" dirty="0">
                <a:solidFill>
                  <a:schemeClr val="tx1"/>
                </a:solidFill>
              </a:rPr>
              <a:t>Tuples of numbers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0" i="0" dirty="0">
                <a:effectLst/>
                <a:latin typeface="-apple-system"/>
              </a:rPr>
              <a:t>These are all valid ways of thinking about vectors.</a:t>
            </a:r>
          </a:p>
          <a:p>
            <a:pPr marL="0" indent="0">
              <a:buNone/>
            </a:pPr>
            <a:r>
              <a:rPr lang="en-GB" b="0" i="0" dirty="0">
                <a:effectLst/>
                <a:latin typeface="-apple-system"/>
              </a:rPr>
              <a:t>The "</a:t>
            </a:r>
            <a:r>
              <a:rPr lang="en-GB" b="1" i="0" dirty="0">
                <a:effectLst/>
                <a:latin typeface="-apple-system"/>
              </a:rPr>
              <a:t>points in space</a:t>
            </a:r>
            <a:r>
              <a:rPr lang="en-GB" b="0" i="0" dirty="0">
                <a:effectLst/>
                <a:latin typeface="-apple-system"/>
              </a:rPr>
              <a:t>" mental model is probably the most useful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vectors to represent </a:t>
            </a:r>
            <a:r>
              <a:rPr lang="en-GB" b="0" i="1" dirty="0">
                <a:effectLst/>
                <a:latin typeface="-apple-system"/>
              </a:rPr>
              <a:t>data</a:t>
            </a:r>
            <a:r>
              <a:rPr lang="en-GB" b="0" i="0" dirty="0">
                <a:effectLst/>
                <a:latin typeface="-apple-system"/>
              </a:rPr>
              <a:t>; data lies in space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matrices to represent </a:t>
            </a:r>
            <a:r>
              <a:rPr lang="en-GB" b="0" i="1" dirty="0">
                <a:effectLst/>
                <a:latin typeface="-apple-system"/>
              </a:rPr>
              <a:t>operations</a:t>
            </a:r>
            <a:r>
              <a:rPr lang="en-GB" b="0" i="0" dirty="0">
                <a:effectLst/>
                <a:latin typeface="-apple-system"/>
              </a:rPr>
              <a:t> on data; matrices warp space.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223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Relation to arrays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1D floating point arrays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are</a:t>
            </a:r>
            <a:endParaRPr lang="en-GB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n-GB" b="0" i="0" dirty="0">
                <a:effectLst/>
                <a:latin typeface="-apple-system"/>
              </a:rPr>
              <a:t>we called "vectors"</a:t>
            </a:r>
          </a:p>
          <a:p>
            <a:r>
              <a:rPr lang="en-GB" b="0" i="0" dirty="0">
                <a:effectLst/>
                <a:latin typeface="-apple-system"/>
              </a:rPr>
              <a:t>floating point numbers </a:t>
            </a:r>
          </a:p>
          <a:p>
            <a:pPr marL="0" indent="0">
              <a:buNone/>
            </a:pPr>
            <a:r>
              <a:rPr lang="en-GB" b="0" i="0" dirty="0">
                <a:effectLst/>
                <a:latin typeface="-apple-system"/>
              </a:rPr>
              <a:t>are </a:t>
            </a:r>
            <a:r>
              <a:rPr lang="en-US" altLang="zh-CN" b="0" i="0" dirty="0">
                <a:solidFill>
                  <a:schemeClr val="accent6"/>
                </a:solidFill>
                <a:effectLst/>
                <a:latin typeface="-apple-system"/>
              </a:rPr>
              <a:t>NOT</a:t>
            </a:r>
            <a:r>
              <a:rPr lang="en-GB" b="0" i="0" dirty="0">
                <a:effectLst/>
                <a:latin typeface="-apple-system"/>
              </a:rPr>
              <a:t> real numbers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342AF-73FB-E635-EEB3-1DF60700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1627188"/>
            <a:ext cx="7772400" cy="491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Uses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0" i="0" dirty="0">
                <a:effectLst/>
                <a:latin typeface="-apple-system"/>
              </a:rPr>
              <a:t>They are a </a:t>
            </a:r>
            <a:r>
              <a:rPr lang="en-GB" b="0" i="1" dirty="0">
                <a:effectLst/>
                <a:latin typeface="-apple-system"/>
              </a:rPr>
              <a:t>lingua franca</a:t>
            </a:r>
            <a:r>
              <a:rPr lang="en-GB" b="0" i="0" dirty="0">
                <a:effectLst/>
                <a:latin typeface="-apple-system"/>
              </a:rPr>
              <a:t> for data</a:t>
            </a:r>
            <a:r>
              <a:rPr lang="en-US" altLang="zh-CN" dirty="0">
                <a:latin typeface="-apple-system"/>
              </a:rPr>
              <a:t>.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Because vectors can be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-apple-system"/>
              </a:rPr>
              <a:t>composed</a:t>
            </a:r>
            <a:r>
              <a:rPr lang="en-GB" b="0" i="0" dirty="0">
                <a:effectLst/>
                <a:latin typeface="-apple-system"/>
              </a:rPr>
              <a:t> (via addition),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-apple-system"/>
              </a:rPr>
              <a:t>compared</a:t>
            </a:r>
            <a:r>
              <a:rPr lang="en-GB" b="0" i="0" dirty="0">
                <a:effectLst/>
                <a:latin typeface="-apple-system"/>
              </a:rPr>
              <a:t> (via norms/inner products)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and </a:t>
            </a:r>
            <a:r>
              <a:rPr lang="en-GB" b="1" i="0" dirty="0">
                <a:effectLst/>
                <a:latin typeface="-apple-system"/>
              </a:rPr>
              <a:t>weighted</a:t>
            </a:r>
            <a:r>
              <a:rPr lang="en-GB" b="0" i="0" dirty="0">
                <a:effectLst/>
                <a:latin typeface="-apple-system"/>
              </a:rPr>
              <a:t> (by scaling),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b="0" i="0" dirty="0">
                <a:effectLst/>
                <a:latin typeface="-apple-system"/>
              </a:rPr>
              <a:t>In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 err="1">
                <a:effectLst/>
                <a:latin typeface="-apple-system"/>
              </a:rPr>
              <a:t>Numpy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they map onto the efficient </a:t>
            </a:r>
            <a:r>
              <a:rPr lang="en-GB" b="1" i="0" dirty="0" err="1">
                <a:effectLst/>
                <a:latin typeface="-apple-system"/>
              </a:rPr>
              <a:t>ndarray</a:t>
            </a:r>
            <a:r>
              <a:rPr lang="en-GB" b="0" i="0" dirty="0">
                <a:effectLst/>
                <a:latin typeface="-apple-system"/>
              </a:rPr>
              <a:t> data structure, so we can operate on them efficiently and concisely.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98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Vector data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Datasets are commonly stored as 2D </a:t>
            </a:r>
            <a:r>
              <a:rPr lang="en-GB" b="1" i="0" dirty="0">
                <a:effectLst/>
                <a:latin typeface="-apple-system"/>
              </a:rPr>
              <a:t>tables</a:t>
            </a:r>
            <a:r>
              <a:rPr lang="en-GB" b="0" i="0" dirty="0">
                <a:effectLst/>
                <a:latin typeface="-apple-system"/>
              </a:rPr>
              <a:t>. 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F42E68-EF46-FCB4-1ABB-6B0E1DBBC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3055372"/>
            <a:ext cx="7123499" cy="2175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19FA4D-028D-2735-6BB0-D60835FFD20B}"/>
              </a:ext>
            </a:extLst>
          </p:cNvPr>
          <p:cNvSpPr txBox="1"/>
          <p:nvPr/>
        </p:nvSpPr>
        <p:spPr>
          <a:xfrm>
            <a:off x="7555299" y="2156614"/>
            <a:ext cx="141763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Observations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B07D7-C0DD-2EB9-92F8-88C28D444E3B}"/>
              </a:ext>
            </a:extLst>
          </p:cNvPr>
          <p:cNvSpPr/>
          <p:nvPr/>
        </p:nvSpPr>
        <p:spPr>
          <a:xfrm>
            <a:off x="695722" y="3457524"/>
            <a:ext cx="5964570" cy="5336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31439E-3B38-C33C-E971-FE0209605F23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660292" y="2341280"/>
            <a:ext cx="895007" cy="1365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CEFCB3A-9BF2-BD5E-9A32-89019120D756}"/>
              </a:ext>
            </a:extLst>
          </p:cNvPr>
          <p:cNvSpPr/>
          <p:nvPr/>
        </p:nvSpPr>
        <p:spPr>
          <a:xfrm>
            <a:off x="2820741" y="2910699"/>
            <a:ext cx="1454697" cy="2039901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9D2078-D534-82F9-860F-EBED91DCAD5C}"/>
              </a:ext>
            </a:extLst>
          </p:cNvPr>
          <p:cNvSpPr txBox="1"/>
          <p:nvPr/>
        </p:nvSpPr>
        <p:spPr>
          <a:xfrm>
            <a:off x="3284733" y="5698692"/>
            <a:ext cx="350782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one element of the vector</a:t>
            </a:r>
            <a:r>
              <a:rPr lang="zh-CN" altLang="en-US" dirty="0"/>
              <a:t> </a:t>
            </a:r>
            <a:r>
              <a:rPr lang="en-US" altLang="zh-CN" dirty="0"/>
              <a:t>(feature)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A0E96C-9E52-2810-99A7-77FAE376B14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3548090" y="4950600"/>
            <a:ext cx="1490553" cy="748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7CF427-2D0E-0D90-2153-E32B52C68861}"/>
                  </a:ext>
                </a:extLst>
              </p:cNvPr>
              <p:cNvSpPr txBox="1"/>
              <p:nvPr/>
            </p:nvSpPr>
            <p:spPr>
              <a:xfrm>
                <a:off x="499060" y="6277160"/>
                <a:ext cx="609805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Each </a:t>
                </a:r>
                <a:r>
                  <a:rPr lang="en-GB" b="1" i="0" dirty="0">
                    <a:effectLst/>
                    <a:latin typeface="-apple-system"/>
                  </a:rPr>
                  <a:t>row</a:t>
                </a:r>
                <a:r>
                  <a:rPr lang="en-GB" b="0" i="0" dirty="0">
                    <a:effectLst/>
                    <a:latin typeface="-apple-system"/>
                  </a:rPr>
                  <a:t> can be seen as a vector in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i="0" dirty="0">
                    <a:effectLst/>
                    <a:latin typeface="-apple-system"/>
                  </a:rPr>
                  <a:t> </a:t>
                </a:r>
                <a:br>
                  <a:rPr lang="en-GB" dirty="0"/>
                </a:br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7CF427-2D0E-0D90-2153-E32B52C68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60" y="6277160"/>
                <a:ext cx="6098058" cy="646331"/>
              </a:xfrm>
              <a:prstGeom prst="rect">
                <a:avLst/>
              </a:prstGeom>
              <a:blipFill>
                <a:blip r:embed="rId4"/>
                <a:stretch>
                  <a:fillRect l="-832"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814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10F3-AFCE-0583-0BDD-43B0C5F4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24156-3F5F-EAC5-95EE-8836C361EE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dirty="0"/>
              <a:t>vectors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3D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</a:p>
          <a:p>
            <a:r>
              <a:rPr lang="en-US" altLang="zh-CN" dirty="0"/>
              <a:t>T</a:t>
            </a:r>
            <a:r>
              <a:rPr lang="en-US" dirty="0"/>
              <a:t>ransformations in 3D space include: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scaling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rotation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flipping (mirroring)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translation (shifting)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2DEBD-ABA0-8045-7FB7-13CD2EEDF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7188"/>
            <a:ext cx="6134100" cy="345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CAF555-5549-4532-C445-3138EED52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375" y="4054473"/>
            <a:ext cx="1953462" cy="2463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833BB2-02EB-8212-CC59-B48801BD210E}"/>
              </a:ext>
            </a:extLst>
          </p:cNvPr>
          <p:cNvSpPr txBox="1"/>
          <p:nvPr/>
        </p:nvSpPr>
        <p:spPr>
          <a:xfrm>
            <a:off x="5662141" y="5334685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  <a:latin typeface="-apple-system"/>
              </a:rPr>
              <a:t>The </a:t>
            </a:r>
            <a:r>
              <a:rPr lang="en-GB" b="0" i="1" dirty="0">
                <a:effectLst/>
                <a:latin typeface="-apple-system"/>
              </a:rPr>
              <a:t>Cobra Mk. III</a:t>
            </a:r>
            <a:r>
              <a:rPr lang="en-GB" b="0" i="0" dirty="0">
                <a:effectLst/>
                <a:latin typeface="-apple-system"/>
              </a:rPr>
              <a:t> spaceship model above is defined by these vectors specifying the vertices in 3D space</a:t>
            </a:r>
          </a:p>
        </p:txBody>
      </p:sp>
    </p:spTree>
    <p:extLst>
      <p:ext uri="{BB962C8B-B14F-4D97-AF65-F5344CB8AC3E}">
        <p14:creationId xmlns:p14="http://schemas.microsoft.com/office/powerpoint/2010/main" val="518847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644E-EDC3-862F-38E7-7336495D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applications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D8536-25D1-B888-BD32-DECA606914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l"/>
            <a:r>
              <a:rPr lang="en-GB" b="0" i="0" dirty="0">
                <a:effectLst/>
                <a:latin typeface="-apple-system"/>
              </a:rPr>
              <a:t>Machine learning relies heavily on vector representation. A typical machine learning process involves: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transforming some data onto </a:t>
            </a:r>
            <a:r>
              <a:rPr lang="en-GB" b="1" i="0" dirty="0">
                <a:effectLst/>
                <a:latin typeface="-apple-system"/>
              </a:rPr>
              <a:t>feature vectors</a:t>
            </a:r>
            <a:endParaRPr lang="en-GB" b="0" i="0" dirty="0">
              <a:effectLst/>
              <a:latin typeface="-apple-system"/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creating a function that transforms </a:t>
            </a:r>
            <a:r>
              <a:rPr lang="en-GB" b="1" i="0" dirty="0">
                <a:effectLst/>
                <a:latin typeface="-apple-system"/>
              </a:rPr>
              <a:t>feature vectors</a:t>
            </a:r>
            <a:r>
              <a:rPr lang="en-GB" b="0" i="0" dirty="0">
                <a:effectLst/>
                <a:latin typeface="-apple-system"/>
              </a:rPr>
              <a:t> to a prediction (e.g. a class label)</a:t>
            </a:r>
          </a:p>
          <a:p>
            <a:pPr algn="l"/>
            <a:endParaRPr lang="en-GB" b="0" i="1" dirty="0">
              <a:effectLst/>
              <a:latin typeface="-apple-system"/>
            </a:endParaRPr>
          </a:p>
          <a:p>
            <a:pPr algn="l"/>
            <a:r>
              <a:rPr lang="en-GB" b="0" i="1" dirty="0">
                <a:effectLst/>
                <a:latin typeface="-apple-system"/>
              </a:rPr>
              <a:t>Most machine learning algorithms can be seen as doing geometric operations: </a:t>
            </a:r>
            <a:r>
              <a:rPr lang="en-GB" b="0" i="1" dirty="0">
                <a:solidFill>
                  <a:schemeClr val="accent6"/>
                </a:solidFill>
                <a:effectLst/>
                <a:latin typeface="-apple-system"/>
              </a:rPr>
              <a:t>comparing distances</a:t>
            </a:r>
            <a:r>
              <a:rPr lang="en-GB" b="0" i="1" dirty="0">
                <a:effectLst/>
                <a:latin typeface="-apple-system"/>
              </a:rPr>
              <a:t>, </a:t>
            </a:r>
            <a:r>
              <a:rPr lang="en-GB" b="0" i="1" dirty="0">
                <a:solidFill>
                  <a:schemeClr val="accent6"/>
                </a:solidFill>
                <a:effectLst/>
                <a:latin typeface="-apple-system"/>
              </a:rPr>
              <a:t>warping space</a:t>
            </a:r>
            <a:r>
              <a:rPr lang="en-GB" b="0" i="1" dirty="0">
                <a:effectLst/>
                <a:latin typeface="-apple-system"/>
              </a:rPr>
              <a:t>, </a:t>
            </a:r>
            <a:r>
              <a:rPr lang="en-GB" b="0" i="1" dirty="0">
                <a:solidFill>
                  <a:schemeClr val="accent6"/>
                </a:solidFill>
                <a:effectLst/>
                <a:latin typeface="-apple-system"/>
              </a:rPr>
              <a:t>computing angles</a:t>
            </a:r>
            <a:r>
              <a:rPr lang="en-GB" b="0" i="1" dirty="0">
                <a:effectLst/>
                <a:latin typeface="-apple-system"/>
              </a:rPr>
              <a:t>, and so on.</a:t>
            </a:r>
          </a:p>
          <a:p>
            <a:pPr lvl="1"/>
            <a:r>
              <a:rPr lang="en-US" altLang="zh-CN" b="0" i="0" dirty="0">
                <a:effectLst/>
                <a:latin typeface="-apple-system"/>
              </a:rPr>
              <a:t>E.g.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1" i="0" dirty="0">
                <a:effectLst/>
                <a:latin typeface="-apple-system"/>
              </a:rPr>
              <a:t>k nearest neighbours</a:t>
            </a:r>
            <a:endParaRPr lang="en-GB" b="0" i="0" dirty="0">
              <a:effectLst/>
              <a:latin typeface="-apple-system"/>
            </a:endParaRPr>
          </a:p>
          <a:p>
            <a:pPr marL="0" indent="0">
              <a:buNone/>
            </a:pPr>
            <a:br>
              <a:rPr lang="en-GB" dirty="0"/>
            </a:br>
            <a:br>
              <a:rPr lang="en-GB" dirty="0"/>
            </a:br>
            <a:endParaRPr lang="en-GB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344046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3911-60D1-9142-7D9D-ED631FC88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</a:t>
            </a:r>
            <a:r>
              <a:rPr lang="zh-CN" altLang="en-US" dirty="0"/>
              <a:t> </a:t>
            </a:r>
            <a:r>
              <a:rPr lang="en-GB" dirty="0">
                <a:effectLst/>
              </a:rPr>
              <a:t>irises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8AE7-5987-5A23-C421-BADCA04091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7288942" cy="46069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effectLst/>
              </a:rPr>
              <a:t>The</a:t>
            </a:r>
            <a:r>
              <a:rPr lang="zh-CN" altLang="en-US" dirty="0">
                <a:effectLst/>
              </a:rPr>
              <a:t> </a:t>
            </a:r>
            <a:r>
              <a:rPr lang="en-GB" dirty="0">
                <a:effectLst/>
              </a:rPr>
              <a:t>irises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classification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task:</a:t>
            </a:r>
            <a:r>
              <a:rPr lang="zh-CN" altLang="en-US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lvl="1"/>
            <a:r>
              <a:rPr lang="en-US" altLang="zh-CN" i="1" dirty="0">
                <a:latin typeface="-apple-system"/>
              </a:rPr>
              <a:t>T</a:t>
            </a:r>
            <a:r>
              <a:rPr lang="en-GB" b="0" i="1" dirty="0">
                <a:effectLst/>
                <a:latin typeface="-apple-system"/>
              </a:rPr>
              <a:t>he measurements of the dimensions of the sepals and petals of irises allows classification of species</a:t>
            </a:r>
          </a:p>
          <a:p>
            <a:pPr lvl="1"/>
            <a:r>
              <a:rPr lang="en-US" altLang="zh-CN" b="1" i="1" dirty="0">
                <a:latin typeface="-apple-system"/>
              </a:rPr>
              <a:t>Training</a:t>
            </a:r>
            <a:r>
              <a:rPr lang="zh-CN" altLang="en-US" b="1" i="1" dirty="0">
                <a:latin typeface="-apple-system"/>
              </a:rPr>
              <a:t> </a:t>
            </a:r>
            <a:r>
              <a:rPr lang="en-US" altLang="zh-CN" b="1" i="1" dirty="0">
                <a:latin typeface="-apple-system"/>
              </a:rPr>
              <a:t>data</a:t>
            </a:r>
            <a:r>
              <a:rPr lang="en-US" altLang="zh-CN" i="1" dirty="0">
                <a:latin typeface="-apple-system"/>
              </a:rPr>
              <a:t>:</a:t>
            </a:r>
            <a:r>
              <a:rPr lang="zh-CN" altLang="en-US" i="1" dirty="0">
                <a:latin typeface="-apple-system"/>
              </a:rPr>
              <a:t> </a:t>
            </a:r>
            <a:r>
              <a:rPr lang="en-US" altLang="zh-CN" i="1" dirty="0">
                <a:latin typeface="-apple-system"/>
              </a:rPr>
              <a:t>[</a:t>
            </a:r>
            <a:r>
              <a:rPr lang="en-GB" b="0" i="1" dirty="0">
                <a:effectLst/>
                <a:latin typeface="-apple-system"/>
              </a:rPr>
              <a:t>sepal</a:t>
            </a:r>
            <a:r>
              <a:rPr lang="zh-CN" altLang="en-US" b="0" i="1" dirty="0">
                <a:effectLst/>
                <a:latin typeface="-apple-system"/>
              </a:rPr>
              <a:t> </a:t>
            </a:r>
            <a:r>
              <a:rPr lang="en-US" altLang="zh-CN" i="1" dirty="0">
                <a:latin typeface="-apple-system"/>
              </a:rPr>
              <a:t>height,</a:t>
            </a:r>
            <a:r>
              <a:rPr lang="zh-CN" altLang="en-US" i="1" dirty="0">
                <a:latin typeface="-apple-system"/>
              </a:rPr>
              <a:t> </a:t>
            </a:r>
            <a:r>
              <a:rPr lang="en-US" altLang="zh-CN" i="1" dirty="0">
                <a:latin typeface="-apple-system"/>
              </a:rPr>
              <a:t>petal]</a:t>
            </a:r>
            <a:r>
              <a:rPr lang="zh-CN" altLang="en-US" i="1" dirty="0">
                <a:latin typeface="-apple-system"/>
              </a:rPr>
              <a:t> </a:t>
            </a:r>
            <a:endParaRPr lang="en-GB" altLang="zh-CN" i="1" dirty="0">
              <a:latin typeface="-apple-system"/>
            </a:endParaRPr>
          </a:p>
          <a:p>
            <a:pPr lvl="1"/>
            <a:r>
              <a:rPr lang="en-US" altLang="zh-CN" b="1" i="1" dirty="0">
                <a:latin typeface="-apple-system"/>
              </a:rPr>
              <a:t>Labels</a:t>
            </a:r>
            <a:r>
              <a:rPr lang="en-US" altLang="zh-CN" i="1" dirty="0">
                <a:latin typeface="-apple-system"/>
              </a:rPr>
              <a:t>:</a:t>
            </a:r>
            <a:r>
              <a:rPr lang="zh-CN" altLang="en-US" i="1" dirty="0">
                <a:latin typeface="-apple-system"/>
              </a:rPr>
              <a:t> </a:t>
            </a:r>
            <a:r>
              <a:rPr lang="en-GB" b="0" i="1" dirty="0">
                <a:effectLst/>
                <a:latin typeface="-apple-system"/>
              </a:rPr>
              <a:t>species</a:t>
            </a:r>
            <a:r>
              <a:rPr lang="zh-CN" altLang="en-US" b="0" i="1" dirty="0">
                <a:effectLst/>
                <a:latin typeface="-apple-system"/>
              </a:rPr>
              <a:t> </a:t>
            </a:r>
            <a:r>
              <a:rPr lang="en-US" altLang="zh-CN" b="0" i="1" dirty="0">
                <a:effectLst/>
                <a:latin typeface="-apple-system"/>
              </a:rPr>
              <a:t>of</a:t>
            </a:r>
            <a:r>
              <a:rPr lang="zh-CN" altLang="en-US" b="0" i="1" dirty="0">
                <a:effectLst/>
                <a:latin typeface="-apple-system"/>
              </a:rPr>
              <a:t> </a:t>
            </a:r>
            <a:r>
              <a:rPr lang="en-GB" dirty="0">
                <a:effectLst/>
              </a:rPr>
              <a:t>irises</a:t>
            </a:r>
          </a:p>
          <a:p>
            <a:pPr lvl="1"/>
            <a:endParaRPr lang="en-GB" dirty="0"/>
          </a:p>
          <a:p>
            <a:r>
              <a:rPr lang="en-US" b="1" i="1" dirty="0"/>
              <a:t>k</a:t>
            </a:r>
            <a:r>
              <a:rPr lang="en-US" b="1" dirty="0"/>
              <a:t> nearest </a:t>
            </a:r>
            <a:r>
              <a:rPr lang="en-US" b="1" dirty="0" err="1"/>
              <a:t>neighbours</a:t>
            </a:r>
            <a:endParaRPr lang="en-US" b="1" dirty="0"/>
          </a:p>
          <a:p>
            <a:pPr lvl="1"/>
            <a:r>
              <a:rPr lang="en-US" altLang="zh-CN" b="0" i="0" dirty="0">
                <a:effectLst/>
                <a:latin typeface="-apple-system"/>
              </a:rPr>
              <a:t>U</a:t>
            </a:r>
            <a:r>
              <a:rPr lang="en-GB" b="0" i="0" dirty="0">
                <a:effectLst/>
                <a:latin typeface="-apple-system"/>
              </a:rPr>
              <a:t>sing a </a:t>
            </a:r>
            <a:r>
              <a:rPr lang="en-GB" b="1" i="0" dirty="0">
                <a:effectLst/>
                <a:latin typeface="-apple-system"/>
              </a:rPr>
              <a:t>norm</a:t>
            </a:r>
            <a:r>
              <a:rPr lang="en-GB" b="0" i="0" dirty="0">
                <a:effectLst/>
                <a:latin typeface="-apple-system"/>
              </a:rPr>
              <a:t> to compute distances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The output prediction is the class label that occurs most times among these </a:t>
            </a:r>
            <a:r>
              <a:rPr lang="en-GB" b="0" i="1" dirty="0">
                <a:effectLst/>
                <a:latin typeface="MJXc-TeX-math-I"/>
              </a:rPr>
              <a:t>k</a:t>
            </a:r>
            <a:r>
              <a:rPr lang="en-GB" b="0" i="0" dirty="0">
                <a:effectLst/>
                <a:latin typeface="-apple-system"/>
              </a:rPr>
              <a:t> neighbours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AF836-D3A5-4A60-7EFF-472D9F302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1733550"/>
            <a:ext cx="40005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0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5FFC-F755-F8B9-7513-3E973706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</a:t>
            </a:r>
            <a:r>
              <a:rPr lang="zh-CN" altLang="en-US" dirty="0"/>
              <a:t> </a:t>
            </a:r>
            <a:r>
              <a:rPr lang="en-GB" dirty="0">
                <a:effectLst/>
              </a:rPr>
              <a:t>irises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AEA91-3D4F-8E16-FFF4-F70289D40C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dirty="0"/>
              <a:t>k</a:t>
            </a:r>
            <a:r>
              <a:rPr lang="en-US" b="1" dirty="0"/>
              <a:t> nearest </a:t>
            </a:r>
            <a:r>
              <a:rPr lang="en-US" b="1" dirty="0" err="1"/>
              <a:t>neighbours</a:t>
            </a:r>
            <a:endParaRPr lang="en-US" b="1" dirty="0"/>
          </a:p>
          <a:p>
            <a:pPr lvl="1"/>
            <a:r>
              <a:rPr lang="en-US" altLang="zh-CN" dirty="0"/>
              <a:t>Calculate</a:t>
            </a:r>
            <a:r>
              <a:rPr lang="zh-CN" altLang="en-US" dirty="0"/>
              <a:t> </a:t>
            </a:r>
            <a:r>
              <a:rPr lang="en-US" altLang="zh-CN" dirty="0"/>
              <a:t>distance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b="1" dirty="0"/>
              <a:t> </a:t>
            </a:r>
            <a:r>
              <a:rPr lang="en-US" altLang="zh-CN" b="1" dirty="0"/>
              <a:t>training</a:t>
            </a:r>
            <a:r>
              <a:rPr lang="zh-CN" altLang="en-US" b="1" dirty="0"/>
              <a:t> </a:t>
            </a:r>
            <a:r>
              <a:rPr lang="en-US" altLang="zh-CN" b="1" dirty="0"/>
              <a:t>examples</a:t>
            </a:r>
            <a:r>
              <a:rPr lang="zh-CN" altLang="en-US" b="1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b="1" dirty="0"/>
              <a:t> </a:t>
            </a:r>
            <a:r>
              <a:rPr lang="en-US" altLang="zh-CN" dirty="0"/>
              <a:t>target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b="1" dirty="0"/>
              <a:t>norm</a:t>
            </a:r>
          </a:p>
          <a:p>
            <a:pPr lvl="1"/>
            <a:r>
              <a:rPr lang="en-US" altLang="zh-CN" dirty="0"/>
              <a:t>Finding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closest</a:t>
            </a:r>
            <a:r>
              <a:rPr lang="zh-CN" altLang="en-US" dirty="0"/>
              <a:t> </a:t>
            </a:r>
            <a:r>
              <a:rPr lang="en-US" altLang="zh-CN" i="1" dirty="0"/>
              <a:t>k</a:t>
            </a:r>
            <a:r>
              <a:rPr lang="zh-CN" altLang="en-US" i="1" dirty="0"/>
              <a:t> </a:t>
            </a:r>
            <a:r>
              <a:rPr lang="en-US" altLang="zh-CN" dirty="0"/>
              <a:t>neighbors</a:t>
            </a:r>
            <a:r>
              <a:rPr lang="zh-CN" altLang="en-US" dirty="0"/>
              <a:t> </a:t>
            </a:r>
            <a:r>
              <a:rPr lang="en-US" altLang="zh-CN" i="1" dirty="0"/>
              <a:t>(e.g.</a:t>
            </a:r>
            <a:r>
              <a:rPr lang="zh-CN" altLang="en-US" i="1" dirty="0"/>
              <a:t> </a:t>
            </a:r>
            <a:r>
              <a:rPr lang="en-US" altLang="zh-CN" i="1" dirty="0"/>
              <a:t>3,</a:t>
            </a:r>
            <a:r>
              <a:rPr lang="zh-CN" altLang="en-US" i="1" dirty="0"/>
              <a:t> </a:t>
            </a:r>
            <a:r>
              <a:rPr lang="en-US" altLang="zh-CN" i="1" dirty="0"/>
              <a:t>5,</a:t>
            </a:r>
            <a:r>
              <a:rPr lang="zh-CN" altLang="en-US" i="1" dirty="0"/>
              <a:t> </a:t>
            </a:r>
            <a:r>
              <a:rPr lang="en-US" altLang="zh-CN" i="1" dirty="0"/>
              <a:t>10),</a:t>
            </a:r>
            <a:r>
              <a:rPr lang="zh-CN" altLang="en-US" i="1" dirty="0"/>
              <a:t> </a:t>
            </a:r>
            <a:r>
              <a:rPr lang="en-US" altLang="zh-CN" i="1" dirty="0"/>
              <a:t>voting</a:t>
            </a:r>
            <a:r>
              <a:rPr lang="zh-CN" altLang="en-US" i="1" dirty="0"/>
              <a:t> </a:t>
            </a:r>
            <a:r>
              <a:rPr lang="en-US" altLang="zh-CN" i="1" dirty="0"/>
              <a:t>for</a:t>
            </a:r>
            <a:r>
              <a:rPr lang="zh-CN" altLang="en-US" i="1" dirty="0"/>
              <a:t> </a:t>
            </a:r>
            <a:r>
              <a:rPr lang="en-US" altLang="zh-CN" i="1" dirty="0"/>
              <a:t>the</a:t>
            </a:r>
            <a:r>
              <a:rPr lang="zh-CN" altLang="en-US" i="1" dirty="0"/>
              <a:t> </a:t>
            </a:r>
            <a:r>
              <a:rPr lang="en-US" altLang="zh-CN" b="1" i="1" dirty="0"/>
              <a:t>most</a:t>
            </a:r>
            <a:r>
              <a:rPr lang="zh-CN" altLang="en-US" b="1" i="1" dirty="0"/>
              <a:t> </a:t>
            </a:r>
            <a:r>
              <a:rPr lang="en-US" altLang="zh-CN" b="1" i="1" dirty="0"/>
              <a:t>majority</a:t>
            </a:r>
            <a:endParaRPr lang="en-US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7C519-3A3B-BA1F-C977-7CEFB35A4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3" y="3241967"/>
            <a:ext cx="6059101" cy="2674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98B6B5-FFBD-DD81-CBAE-4B374AD41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457" y="3241967"/>
            <a:ext cx="3282624" cy="251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36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5FFC-F755-F8B9-7513-3E973706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</a:t>
            </a:r>
            <a:r>
              <a:rPr lang="zh-CN" altLang="en-US" dirty="0"/>
              <a:t> </a:t>
            </a:r>
            <a:r>
              <a:rPr lang="en-GB" dirty="0">
                <a:effectLst/>
              </a:rPr>
              <a:t>irises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AEA91-3D4F-8E16-FFF4-F70289D40C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5810250" cy="4606925"/>
          </a:xfrm>
        </p:spPr>
        <p:txBody>
          <a:bodyPr/>
          <a:lstStyle/>
          <a:p>
            <a:r>
              <a:rPr lang="en-US" altLang="zh-CN" i="1" dirty="0"/>
              <a:t>The</a:t>
            </a:r>
            <a:r>
              <a:rPr lang="zh-CN" altLang="en-US" i="1" dirty="0"/>
              <a:t> </a:t>
            </a:r>
            <a:r>
              <a:rPr lang="en-US" altLang="zh-CN" i="1" dirty="0"/>
              <a:t>choice</a:t>
            </a:r>
            <a:r>
              <a:rPr lang="zh-CN" altLang="en-US" i="1" dirty="0"/>
              <a:t> </a:t>
            </a:r>
            <a:r>
              <a:rPr lang="en-US" altLang="zh-CN" i="1" dirty="0"/>
              <a:t>of</a:t>
            </a:r>
            <a:r>
              <a:rPr lang="zh-CN" altLang="en-US" i="1" dirty="0"/>
              <a:t> </a:t>
            </a:r>
            <a:r>
              <a:rPr lang="en-US" altLang="zh-CN" i="1" dirty="0"/>
              <a:t>k</a:t>
            </a:r>
            <a:r>
              <a:rPr lang="zh-CN" altLang="en-US" i="1" dirty="0"/>
              <a:t> </a:t>
            </a:r>
            <a:r>
              <a:rPr lang="en-US" altLang="zh-CN" i="1" dirty="0"/>
              <a:t>might</a:t>
            </a:r>
            <a:r>
              <a:rPr lang="zh-CN" altLang="en-US" i="1" dirty="0"/>
              <a:t> </a:t>
            </a:r>
            <a:r>
              <a:rPr lang="en-US" altLang="zh-CN" i="1" dirty="0"/>
              <a:t>significantly</a:t>
            </a:r>
            <a:r>
              <a:rPr lang="zh-CN" altLang="en-US" i="1" dirty="0"/>
              <a:t> </a:t>
            </a:r>
            <a:r>
              <a:rPr lang="en-US" altLang="zh-CN" i="1" dirty="0"/>
              <a:t>affect</a:t>
            </a:r>
            <a:r>
              <a:rPr lang="zh-CN" altLang="en-US" i="1" dirty="0"/>
              <a:t> </a:t>
            </a:r>
            <a:r>
              <a:rPr lang="en-US" altLang="zh-CN" i="1" dirty="0"/>
              <a:t>the</a:t>
            </a:r>
            <a:r>
              <a:rPr lang="zh-CN" altLang="en-US" i="1" dirty="0"/>
              <a:t> </a:t>
            </a:r>
            <a:r>
              <a:rPr lang="en-US" altLang="zh-CN" i="1" dirty="0"/>
              <a:t>prediction</a:t>
            </a:r>
            <a:r>
              <a:rPr lang="zh-CN" altLang="en-US" i="1" dirty="0"/>
              <a:t> </a:t>
            </a:r>
            <a:r>
              <a:rPr lang="en-US" altLang="zh-CN" i="1" dirty="0"/>
              <a:t>result</a:t>
            </a:r>
          </a:p>
          <a:p>
            <a:r>
              <a:rPr lang="en-US" altLang="zh-CN" i="1" dirty="0"/>
              <a:t>The</a:t>
            </a:r>
            <a:r>
              <a:rPr lang="zh-CN" altLang="en-US" i="1" dirty="0"/>
              <a:t> </a:t>
            </a:r>
            <a:r>
              <a:rPr lang="en-US" altLang="zh-CN" i="1" dirty="0"/>
              <a:t>distance</a:t>
            </a:r>
            <a:r>
              <a:rPr lang="zh-CN" altLang="en-US" i="1" dirty="0"/>
              <a:t> </a:t>
            </a:r>
            <a:r>
              <a:rPr lang="en-US" altLang="zh-CN" i="1" dirty="0"/>
              <a:t>function</a:t>
            </a:r>
            <a:r>
              <a:rPr lang="zh-CN" altLang="en-US" i="1" dirty="0"/>
              <a:t> </a:t>
            </a:r>
            <a:r>
              <a:rPr lang="en-US" altLang="zh-CN" i="1" dirty="0"/>
              <a:t>(norm</a:t>
            </a:r>
            <a:r>
              <a:rPr lang="zh-CN" altLang="en-US" i="1" dirty="0"/>
              <a:t> </a:t>
            </a:r>
            <a:r>
              <a:rPr lang="en-US" altLang="zh-CN" i="1" dirty="0"/>
              <a:t>or</a:t>
            </a:r>
            <a:r>
              <a:rPr lang="zh-CN" altLang="en-US" i="1" dirty="0"/>
              <a:t> </a:t>
            </a:r>
            <a:r>
              <a:rPr lang="en-US" altLang="zh-CN" i="1" dirty="0"/>
              <a:t>cosine</a:t>
            </a:r>
            <a:r>
              <a:rPr lang="zh-CN" altLang="en-US" i="1" dirty="0"/>
              <a:t> </a:t>
            </a:r>
            <a:r>
              <a:rPr lang="en-US" altLang="zh-CN" i="1" dirty="0"/>
              <a:t>similarity)</a:t>
            </a:r>
            <a:r>
              <a:rPr lang="zh-CN" altLang="en-US" i="1" dirty="0"/>
              <a:t> </a:t>
            </a:r>
            <a:r>
              <a:rPr lang="en-US" altLang="zh-CN" i="1" dirty="0"/>
              <a:t>is</a:t>
            </a:r>
            <a:r>
              <a:rPr lang="zh-CN" altLang="en-US" i="1" dirty="0"/>
              <a:t> </a:t>
            </a:r>
            <a:r>
              <a:rPr lang="en-US" altLang="zh-CN" i="1" dirty="0"/>
              <a:t>something</a:t>
            </a:r>
            <a:r>
              <a:rPr lang="zh-CN" altLang="en-US" i="1" dirty="0"/>
              <a:t> </a:t>
            </a:r>
            <a:r>
              <a:rPr lang="en-US" altLang="zh-CN" i="1" dirty="0"/>
              <a:t>need</a:t>
            </a:r>
            <a:r>
              <a:rPr lang="zh-CN" altLang="en-US" i="1" dirty="0"/>
              <a:t> </a:t>
            </a:r>
            <a:r>
              <a:rPr lang="en-US" altLang="zh-CN" i="1" dirty="0"/>
              <a:t>to</a:t>
            </a:r>
            <a:r>
              <a:rPr lang="zh-CN" altLang="en-US" i="1" dirty="0"/>
              <a:t> </a:t>
            </a:r>
            <a:r>
              <a:rPr lang="en-US" altLang="zh-CN" i="1" dirty="0"/>
              <a:t>be</a:t>
            </a:r>
            <a:r>
              <a:rPr lang="zh-CN" altLang="en-US" i="1" dirty="0"/>
              <a:t> </a:t>
            </a:r>
            <a:r>
              <a:rPr lang="en-US" altLang="zh-CN" i="1" dirty="0"/>
              <a:t>considered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684CB-8937-DEDB-E603-41FFE4BA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381" y="2349158"/>
            <a:ext cx="4282560" cy="35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4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166E-CC2C-BD66-2F23-4ADCE4BD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</a:t>
            </a:r>
            <a:r>
              <a:rPr lang="zh-CN" altLang="en-US" dirty="0"/>
              <a:t> </a:t>
            </a:r>
            <a:r>
              <a:rPr lang="en-GB" b="1" i="0" dirty="0">
                <a:effectLst/>
                <a:latin typeface="-apple-system"/>
              </a:rPr>
              <a:t>Image compression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8BAC-3C7B-C849-EA99-849C5899F2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6794672" cy="4606925"/>
          </a:xfrm>
        </p:spPr>
        <p:txBody>
          <a:bodyPr>
            <a:normAutofit fontScale="92500" lnSpcReduction="10000"/>
          </a:bodyPr>
          <a:lstStyle/>
          <a:p>
            <a:r>
              <a:rPr lang="en-GB" b="0" i="0" dirty="0">
                <a:effectLst/>
                <a:latin typeface="-apple-system"/>
              </a:rPr>
              <a:t>Images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can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be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represented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as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2D arrays of brightness</a:t>
            </a:r>
          </a:p>
          <a:p>
            <a:r>
              <a:rPr lang="en-GB" b="0" i="0" dirty="0">
                <a:effectLst/>
                <a:latin typeface="-apple-system"/>
              </a:rPr>
              <a:t>Groups of pixels -- for example, rectangular patches -- can be </a:t>
            </a:r>
            <a:r>
              <a:rPr lang="en-GB" b="0" i="0" dirty="0" err="1">
                <a:effectLst/>
                <a:latin typeface="-apple-system"/>
              </a:rPr>
              <a:t>unraveled</a:t>
            </a:r>
            <a:r>
              <a:rPr lang="en-GB" b="0" i="0" dirty="0">
                <a:effectLst/>
                <a:latin typeface="-apple-system"/>
              </a:rPr>
              <a:t> into a vector. </a:t>
            </a:r>
          </a:p>
          <a:p>
            <a:pPr lvl="1"/>
            <a:r>
              <a:rPr lang="en-US" altLang="zh-CN" dirty="0">
                <a:latin typeface="-apple-system"/>
              </a:rPr>
              <a:t>E.g.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An 8x8 image patch would be </a:t>
            </a:r>
            <a:r>
              <a:rPr lang="en-GB" b="0" i="0" dirty="0" err="1">
                <a:effectLst/>
                <a:latin typeface="-apple-system"/>
              </a:rPr>
              <a:t>unraveled</a:t>
            </a:r>
            <a:r>
              <a:rPr lang="en-GB" b="0" i="0" dirty="0">
                <a:effectLst/>
                <a:latin typeface="-apple-system"/>
              </a:rPr>
              <a:t> to a 64-dimensional vector.</a:t>
            </a:r>
            <a:endParaRPr lang="en-GB" dirty="0">
              <a:latin typeface="-apple-system"/>
            </a:endParaRPr>
          </a:p>
          <a:p>
            <a:endParaRPr lang="en-US" dirty="0"/>
          </a:p>
          <a:p>
            <a:r>
              <a:rPr lang="en-GB" b="0" i="0" dirty="0">
                <a:effectLst/>
                <a:latin typeface="-apple-system"/>
              </a:rPr>
              <a:t> </a:t>
            </a:r>
            <a:r>
              <a:rPr lang="en-US" altLang="zh-CN" b="0" i="0" dirty="0">
                <a:effectLst/>
                <a:latin typeface="-apple-system"/>
              </a:rPr>
              <a:t>S</a:t>
            </a:r>
            <a:r>
              <a:rPr lang="en-GB" b="0" i="0" dirty="0" err="1">
                <a:effectLst/>
                <a:latin typeface="-apple-system"/>
              </a:rPr>
              <a:t>plitting</a:t>
            </a:r>
            <a:r>
              <a:rPr lang="en-GB" b="0" i="0" dirty="0">
                <a:effectLst/>
                <a:latin typeface="-apple-system"/>
              </a:rPr>
              <a:t> images into patches, and treating each patch as a vector </a:t>
            </a:r>
            <a:r>
              <a:rPr lang="en-GB" b="0" i="0" dirty="0">
                <a:effectLst/>
                <a:latin typeface="MJXc-TeX-main-B"/>
              </a:rPr>
              <a:t>x</a:t>
            </a:r>
            <a:r>
              <a:rPr lang="en-US" altLang="zh-CN" b="0" i="0" dirty="0">
                <a:effectLst/>
                <a:latin typeface="MJXc-TeX-main-B"/>
              </a:rPr>
              <a:t>_</a:t>
            </a:r>
            <a:r>
              <a:rPr lang="en-GB" b="0" i="0" dirty="0">
                <a:effectLst/>
                <a:latin typeface="MJXc-TeX-main-B"/>
              </a:rPr>
              <a:t>1</a:t>
            </a:r>
            <a:r>
              <a:rPr lang="en-GB" b="0" i="0" dirty="0">
                <a:effectLst/>
                <a:latin typeface="MJXc-TeX-main-R"/>
              </a:rPr>
              <a:t>,…,</a:t>
            </a:r>
            <a:r>
              <a:rPr lang="en-GB" b="0" i="0" dirty="0">
                <a:effectLst/>
                <a:latin typeface="MJXc-TeX-main-B"/>
              </a:rPr>
              <a:t>x</a:t>
            </a:r>
            <a:r>
              <a:rPr lang="en-US" altLang="zh-CN" b="0" i="0" dirty="0">
                <a:effectLst/>
                <a:latin typeface="MJXc-TeX-main-B"/>
              </a:rPr>
              <a:t>_</a:t>
            </a:r>
            <a:r>
              <a:rPr lang="en-GB" b="0" i="0" dirty="0">
                <a:effectLst/>
                <a:latin typeface="MJXc-TeX-main-B"/>
              </a:rPr>
              <a:t>n</a:t>
            </a:r>
          </a:p>
          <a:p>
            <a:r>
              <a:rPr lang="en-GB" b="0" i="0" dirty="0">
                <a:effectLst/>
                <a:latin typeface="-apple-system"/>
              </a:rPr>
              <a:t>The vectors are </a:t>
            </a:r>
            <a:r>
              <a:rPr lang="en-GB" b="1" i="0" dirty="0">
                <a:effectLst/>
                <a:latin typeface="-apple-system"/>
              </a:rPr>
              <a:t>clustered</a:t>
            </a:r>
            <a:r>
              <a:rPr lang="en-GB" b="0" i="0" dirty="0">
                <a:effectLst/>
                <a:latin typeface="-apple-system"/>
              </a:rPr>
              <a:t> to find a small number of vectors </a:t>
            </a:r>
            <a:r>
              <a:rPr lang="en-GB" b="0" i="0" dirty="0">
                <a:effectLst/>
                <a:latin typeface="MJXc-TeX-main-B"/>
              </a:rPr>
              <a:t>y</a:t>
            </a:r>
            <a:r>
              <a:rPr lang="en-US" altLang="zh-CN" b="0" i="0" dirty="0">
                <a:effectLst/>
                <a:latin typeface="MJXc-TeX-main-B"/>
              </a:rPr>
              <a:t>_</a:t>
            </a:r>
            <a:r>
              <a:rPr lang="en-GB" b="0" i="0" dirty="0">
                <a:effectLst/>
                <a:latin typeface="MJXc-TeX-main-B"/>
              </a:rPr>
              <a:t>1</a:t>
            </a:r>
            <a:r>
              <a:rPr lang="en-GB" b="0" i="0" dirty="0">
                <a:effectLst/>
                <a:latin typeface="MJXc-TeX-main-R"/>
              </a:rPr>
              <a:t>,…,</a:t>
            </a:r>
            <a:r>
              <a:rPr lang="en-GB" b="0" i="0" dirty="0">
                <a:effectLst/>
                <a:latin typeface="MJXc-TeX-main-B"/>
              </a:rPr>
              <a:t>y</a:t>
            </a:r>
            <a:r>
              <a:rPr lang="en-US" altLang="zh-CN" b="0" i="0" dirty="0">
                <a:effectLst/>
                <a:latin typeface="MJXc-TeX-main-B"/>
              </a:rPr>
              <a:t>_</a:t>
            </a:r>
            <a:r>
              <a:rPr lang="en-GB" b="0" i="0" dirty="0">
                <a:effectLst/>
                <a:latin typeface="MJXc-TeX-main-B"/>
              </a:rPr>
              <a:t>m</a:t>
            </a:r>
            <a:r>
              <a:rPr lang="en-GB" b="0" i="0" dirty="0">
                <a:effectLst/>
                <a:latin typeface="MJXc-TeX-main-R"/>
              </a:rPr>
              <a:t>, </a:t>
            </a:r>
            <a:r>
              <a:rPr lang="en-GB" b="0" i="0" dirty="0">
                <a:effectLst/>
                <a:latin typeface="MJXc-TeX-math-I"/>
              </a:rPr>
              <a:t>m</a:t>
            </a:r>
            <a:r>
              <a:rPr lang="en-GB" b="0" i="0" dirty="0">
                <a:effectLst/>
                <a:latin typeface="MJXc-TeX-main-R"/>
              </a:rPr>
              <a:t>&lt;&lt;</a:t>
            </a:r>
            <a:r>
              <a:rPr lang="en-GB" b="0" i="0" dirty="0">
                <a:effectLst/>
                <a:latin typeface="MJXc-TeX-math-I"/>
              </a:rPr>
              <a:t>n</a:t>
            </a:r>
            <a:r>
              <a:rPr lang="zh-CN" altLang="en-US" b="0" i="0" dirty="0">
                <a:effectLst/>
                <a:latin typeface="MJXc-TeX-math-I"/>
              </a:rPr>
              <a:t> </a:t>
            </a:r>
            <a:r>
              <a:rPr lang="en-GB" b="0" i="0" dirty="0">
                <a:effectLst/>
                <a:latin typeface="-apple-system"/>
              </a:rPr>
              <a:t>that are a reasonable approximation of nearby vectors. </a:t>
            </a:r>
          </a:p>
          <a:p>
            <a:r>
              <a:rPr lang="en-GB" b="0" i="0" dirty="0">
                <a:effectLst/>
                <a:latin typeface="-apple-system"/>
              </a:rPr>
              <a:t>the vectors for the small number of representative vectors </a:t>
            </a:r>
            <a:r>
              <a:rPr lang="en-GB" b="0" i="0" dirty="0">
                <a:effectLst/>
                <a:latin typeface="MJXc-TeX-main-B"/>
              </a:rPr>
              <a:t>y</a:t>
            </a:r>
            <a:r>
              <a:rPr lang="en-US" altLang="zh-CN" b="0" i="0" dirty="0">
                <a:effectLst/>
                <a:latin typeface="MJXc-TeX-main-B"/>
              </a:rPr>
              <a:t>_</a:t>
            </a:r>
            <a:r>
              <a:rPr lang="en-GB" b="0" i="0" dirty="0" err="1">
                <a:effectLst/>
                <a:latin typeface="MJXc-TeX-main-B"/>
              </a:rPr>
              <a:t>i</a:t>
            </a:r>
            <a:r>
              <a:rPr lang="en-GB" b="0" i="0" dirty="0">
                <a:effectLst/>
                <a:latin typeface="-apple-system"/>
              </a:rPr>
              <a:t> are stored (the </a:t>
            </a:r>
            <a:r>
              <a:rPr lang="en-GB" b="1" i="0" dirty="0">
                <a:effectLst/>
                <a:latin typeface="-apple-system"/>
              </a:rPr>
              <a:t>codebook</a:t>
            </a:r>
            <a:r>
              <a:rPr lang="en-GB" b="0" i="0" dirty="0">
                <a:effectLst/>
                <a:latin typeface="-apple-system"/>
              </a:rPr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214CF-3BB0-D0BA-C87E-C6D475AA6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599" y="1188823"/>
            <a:ext cx="4927600" cy="255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191E5-A26C-900E-D9DE-3A7FB0039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50" y="3771900"/>
            <a:ext cx="5245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1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vector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11C0-0587-0C37-FA12-859A78B77B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1" y="1627188"/>
            <a:ext cx="5521926" cy="4606925"/>
          </a:xfrm>
        </p:spPr>
        <p:txBody>
          <a:bodyPr/>
          <a:lstStyle/>
          <a:p>
            <a:pPr algn="l"/>
            <a:r>
              <a:rPr lang="en-GB" b="0" i="0" dirty="0">
                <a:effectLst/>
                <a:latin typeface="-apple-system"/>
              </a:rPr>
              <a:t>Standard operations</a:t>
            </a:r>
            <a:r>
              <a:rPr lang="en-US" altLang="zh-CN" b="0" i="0" dirty="0">
                <a:effectLst/>
                <a:latin typeface="-apple-system"/>
              </a:rPr>
              <a:t>: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getting the length of vectors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(</a:t>
            </a:r>
            <a:r>
              <a:rPr lang="en-US" altLang="zh-CN" b="1" dirty="0">
                <a:latin typeface="-apple-system"/>
              </a:rPr>
              <a:t>n</a:t>
            </a:r>
            <a:r>
              <a:rPr lang="en-US" altLang="zh-CN" b="1" i="0" dirty="0">
                <a:effectLst/>
                <a:latin typeface="-apple-system"/>
              </a:rPr>
              <a:t>orm</a:t>
            </a:r>
            <a:r>
              <a:rPr lang="en-US" altLang="zh-CN" b="0" i="0" dirty="0">
                <a:effectLst/>
                <a:latin typeface="-apple-system"/>
              </a:rPr>
              <a:t>)</a:t>
            </a:r>
            <a:endParaRPr lang="en-GB" b="0" i="0" dirty="0">
              <a:effectLst/>
              <a:latin typeface="-apple-system"/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computing dot (inner), outer and cross products.</a:t>
            </a:r>
            <a:endParaRPr lang="en-GB" b="1" i="0" dirty="0">
              <a:effectLst/>
              <a:latin typeface="-apple-system"/>
            </a:endParaRPr>
          </a:p>
          <a:p>
            <a:pPr marL="0" indent="0">
              <a:buNone/>
            </a:pPr>
            <a:endParaRPr lang="en-GB" b="1" i="0" dirty="0">
              <a:effectLst/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Addition and multiplication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1" i="0" dirty="0">
                <a:effectLst/>
                <a:latin typeface="-apple-system"/>
              </a:rPr>
              <a:t>--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form </a:t>
            </a:r>
            <a:r>
              <a:rPr lang="en-GB" b="1" i="0" dirty="0">
                <a:effectLst/>
                <a:latin typeface="-apple-system"/>
              </a:rPr>
              <a:t>weighted sums</a:t>
            </a:r>
            <a:r>
              <a:rPr lang="en-GB" b="0" i="0" dirty="0">
                <a:effectLst/>
                <a:latin typeface="-apple-system"/>
              </a:rPr>
              <a:t> of vectors</a:t>
            </a:r>
            <a:endParaRPr lang="en-GB" b="1" i="0" dirty="0">
              <a:effectLst/>
              <a:latin typeface="-apple-system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77261-5799-7246-5A15-DD1CD822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72" y="4851442"/>
            <a:ext cx="3732176" cy="758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48ED04-9924-450E-B317-1EA3542F8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8" y="1553473"/>
            <a:ext cx="4198551" cy="4056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23082A-A280-6C3A-0648-831FC31E7C42}"/>
              </a:ext>
            </a:extLst>
          </p:cNvPr>
          <p:cNvSpPr txBox="1"/>
          <p:nvPr/>
        </p:nvSpPr>
        <p:spPr>
          <a:xfrm>
            <a:off x="7685903" y="5864781"/>
            <a:ext cx="300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note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922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vector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11C0-0587-0C37-FA12-859A78B77B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6090336" cy="4606925"/>
          </a:xfrm>
        </p:spPr>
        <p:txBody>
          <a:bodyPr/>
          <a:lstStyle/>
          <a:p>
            <a:r>
              <a:rPr lang="en-US" altLang="zh-CN" dirty="0">
                <a:latin typeface="-apple-system"/>
              </a:rPr>
              <a:t>Many</a:t>
            </a:r>
            <a:r>
              <a:rPr lang="en-GB" b="0" i="0" dirty="0">
                <a:effectLst/>
                <a:latin typeface="-apple-system"/>
              </a:rPr>
              <a:t> standard statistics and operations can be directly applied.</a:t>
            </a:r>
          </a:p>
          <a:p>
            <a:endParaRPr lang="en-GB" dirty="0"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Linear interpolation: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GB" altLang="zh-CN" i="0" dirty="0">
                <a:effectLst/>
                <a:latin typeface="-apple-system"/>
              </a:rPr>
              <a:t>to construct </a:t>
            </a:r>
            <a:r>
              <a:rPr lang="en-GB" altLang="zh-CN" b="1" i="0" dirty="0">
                <a:effectLst/>
                <a:latin typeface="-apple-system"/>
              </a:rPr>
              <a:t>new</a:t>
            </a:r>
            <a:r>
              <a:rPr lang="en-GB" altLang="zh-CN" i="0" dirty="0">
                <a:effectLst/>
                <a:latin typeface="-apple-system"/>
              </a:rPr>
              <a:t> data points within the range of </a:t>
            </a:r>
            <a:r>
              <a:rPr lang="en-GB" altLang="zh-CN" b="1" i="0" dirty="0">
                <a:effectLst/>
                <a:latin typeface="-apple-system"/>
              </a:rPr>
              <a:t>known</a:t>
            </a:r>
            <a:r>
              <a:rPr lang="en-GB" altLang="zh-CN" i="0" dirty="0">
                <a:effectLst/>
                <a:latin typeface="-apple-system"/>
              </a:rPr>
              <a:t> data points.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C650B-4442-F207-7AFD-63DC7027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79" y="3930650"/>
            <a:ext cx="3784600" cy="57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891D88-4648-5817-B780-0E187CBC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75" y="1422400"/>
            <a:ext cx="4279900" cy="441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4A16A2-2D0F-8510-0D4D-0C8FC6567C2B}"/>
              </a:ext>
            </a:extLst>
          </p:cNvPr>
          <p:cNvSpPr txBox="1"/>
          <p:nvPr/>
        </p:nvSpPr>
        <p:spPr>
          <a:xfrm>
            <a:off x="7685903" y="5864781"/>
            <a:ext cx="300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note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426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6E4C37-79CF-DEF8-8D90-4308C388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that vector?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A0756-895F-D832-3D08-2D40D3D490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6275688" cy="4606925"/>
          </a:xfrm>
        </p:spPr>
        <p:txBody>
          <a:bodyPr/>
          <a:lstStyle/>
          <a:p>
            <a:r>
              <a:rPr lang="en-GB" b="0" i="0" dirty="0">
                <a:effectLst/>
              </a:rPr>
              <a:t>The Euclidean length of a vector x (written as ||x||) can be computed directly using </a:t>
            </a:r>
            <a:r>
              <a:rPr lang="en-GB" i="1" dirty="0" err="1"/>
              <a:t>np.linalg.norm</a:t>
            </a:r>
            <a:r>
              <a:rPr lang="en-GB" i="1" dirty="0"/>
              <a:t>()</a:t>
            </a:r>
            <a:r>
              <a:rPr lang="en-GB" b="0" i="0" dirty="0">
                <a:effectLst/>
              </a:rPr>
              <a:t>. </a:t>
            </a:r>
          </a:p>
          <a:p>
            <a:r>
              <a:rPr lang="en-GB" b="0" i="0" dirty="0">
                <a:effectLst/>
              </a:rPr>
              <a:t>This is equal to: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59A9A8-EC6E-E4BB-8CCA-79CA69047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11" y="3429000"/>
            <a:ext cx="3213100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897327-1085-8FEA-7F93-CD53057E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99" y="1968500"/>
            <a:ext cx="44196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35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norms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D11C0-0587-0C37-FA12-859A78B77BC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844099" cy="4606925"/>
              </a:xfrm>
            </p:spPr>
            <p:txBody>
              <a:bodyPr/>
              <a:lstStyle/>
              <a:p>
                <a:r>
                  <a:rPr lang="en-GB" b="1" i="0" dirty="0">
                    <a:effectLst/>
                    <a:latin typeface="-apple-system"/>
                  </a:rPr>
                  <a:t>Euclidean norm</a:t>
                </a:r>
                <a:r>
                  <a:rPr lang="en-GB" b="0" i="0" dirty="0">
                    <a:effectLst/>
                    <a:latin typeface="-apple-system"/>
                  </a:rPr>
                  <a:t> or </a:t>
                </a:r>
                <a:r>
                  <a:rPr lang="en-GB" b="1" i="0" dirty="0">
                    <a:effectLst/>
                    <a:latin typeface="-apple-system"/>
                  </a:rPr>
                  <a:t>Euclidean distance measure</a:t>
                </a:r>
              </a:p>
              <a:p>
                <a:endParaRPr lang="en-GB" b="1" dirty="0">
                  <a:latin typeface="-apple-system"/>
                </a:endParaRPr>
              </a:p>
              <a:p>
                <a:endParaRPr lang="en-GB" b="1" i="0" dirty="0">
                  <a:effectLst/>
                  <a:latin typeface="-apple-system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effectLst/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m:rPr>
                            <m:nor/>
                          </m:rPr>
                          <a:rPr lang="en-GB" b="1" dirty="0">
                            <a:latin typeface="MJXc-TeX-math-I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GB" b="1" i="0" dirty="0">
                    <a:effectLst/>
                    <a:latin typeface="-apple-system"/>
                  </a:rPr>
                  <a:t>-norms</a:t>
                </a:r>
                <a:r>
                  <a:rPr lang="en-GB" b="0" i="0" dirty="0">
                    <a:effectLst/>
                    <a:latin typeface="-apple-system"/>
                  </a:rPr>
                  <a:t> or </a:t>
                </a:r>
                <a:r>
                  <a:rPr lang="en-GB" b="1" i="0" dirty="0" err="1">
                    <a:effectLst/>
                    <a:latin typeface="-apple-system"/>
                  </a:rPr>
                  <a:t>Minkowski</a:t>
                </a:r>
                <a:r>
                  <a:rPr lang="en-GB" b="0" i="0" dirty="0">
                    <a:effectLst/>
                    <a:latin typeface="-apple-system"/>
                  </a:rPr>
                  <a:t> norms</a:t>
                </a:r>
                <a:r>
                  <a:rPr lang="en-US" altLang="zh-CN" dirty="0">
                    <a:latin typeface="-apple-system"/>
                  </a:rPr>
                  <a:t>,</a:t>
                </a:r>
                <a:r>
                  <a:rPr lang="zh-CN" altLang="en-US" dirty="0">
                    <a:latin typeface="-apple-system"/>
                  </a:rPr>
                  <a:t> </a:t>
                </a:r>
                <a:r>
                  <a:rPr lang="en-US" altLang="zh-CN" dirty="0">
                    <a:latin typeface="-apple-system"/>
                  </a:rPr>
                  <a:t>which</a:t>
                </a:r>
                <a:r>
                  <a:rPr lang="zh-CN" altLang="en-US" dirty="0">
                    <a:latin typeface="-apple-system"/>
                  </a:rPr>
                  <a:t> </a:t>
                </a:r>
                <a:r>
                  <a:rPr lang="en-US" altLang="zh-CN" dirty="0">
                    <a:latin typeface="-apple-system"/>
                  </a:rPr>
                  <a:t>is</a:t>
                </a:r>
                <a:r>
                  <a:rPr lang="zh-CN" altLang="en-US" dirty="0">
                    <a:latin typeface="-apple-system"/>
                  </a:rPr>
                  <a:t> </a:t>
                </a:r>
                <a:r>
                  <a:rPr lang="en-US" altLang="zh-CN" dirty="0">
                    <a:latin typeface="-apple-system"/>
                  </a:rPr>
                  <a:t>defined</a:t>
                </a:r>
                <a:r>
                  <a:rPr lang="zh-CN" altLang="en-US" dirty="0">
                    <a:latin typeface="-apple-system"/>
                  </a:rPr>
                  <a:t> </a:t>
                </a:r>
                <a:r>
                  <a:rPr lang="en-US" altLang="zh-CN" dirty="0">
                    <a:latin typeface="-apple-system"/>
                  </a:rPr>
                  <a:t>by:</a:t>
                </a:r>
                <a:endParaRPr lang="en-GB" b="1" i="0" dirty="0">
                  <a:effectLst/>
                  <a:latin typeface="-apple-system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D11C0-0587-0C37-FA12-859A78B77B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844099" cy="4606925"/>
              </a:xfrm>
              <a:blipFill>
                <a:blip r:embed="rId2"/>
                <a:stretch>
                  <a:fillRect l="-1296" t="-1648" r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601CAE-C76D-9C45-ABF4-648264077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989" y="2211517"/>
            <a:ext cx="1431324" cy="647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990FA-E17B-8DE6-0821-391976464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942" y="3746123"/>
            <a:ext cx="2391430" cy="1048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2AF7D-70E1-CA6F-9670-7733AC9F9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665" y="1844401"/>
            <a:ext cx="3738515" cy="316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7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norms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6F090A-E505-41F1-AFE3-11AF7C31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47" y="1524000"/>
            <a:ext cx="5097888" cy="5049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DEF4A8-57C4-41F7-5D9D-90442CD51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108" y="1915396"/>
            <a:ext cx="5943447" cy="36631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56381E-36A9-D1EE-FD1A-EC565E523655}"/>
              </a:ext>
            </a:extLst>
          </p:cNvPr>
          <p:cNvSpPr txBox="1"/>
          <p:nvPr/>
        </p:nvSpPr>
        <p:spPr>
          <a:xfrm>
            <a:off x="5805270" y="552994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-apple-system"/>
              </a:rPr>
              <a:t>Every dashed line has the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same</a:t>
            </a:r>
            <a:r>
              <a:rPr lang="en-GB" b="0" i="0" dirty="0">
                <a:effectLst/>
                <a:latin typeface="-apple-system"/>
              </a:rPr>
              <a:t> distance to the origin as measured in that norm. The points of equal distance in that norm appear as a connected line.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60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FC3456-2A1B-7BFE-8721-1FBE2883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vectors and </a:t>
            </a:r>
            <a:r>
              <a:rPr lang="en-US" dirty="0" err="1"/>
              <a:t>normalisation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B1792D8-FC39-B897-2B0A-FFA83BCBD5D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856455" cy="4606925"/>
              </a:xfrm>
            </p:spPr>
            <p:txBody>
              <a:bodyPr/>
              <a:lstStyle/>
              <a:p>
                <a:r>
                  <a:rPr lang="en-US" dirty="0"/>
                  <a:t>A unit vector has norm 1</a:t>
                </a:r>
                <a:r>
                  <a:rPr lang="zh-CN" altLang="en-US" dirty="0"/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(the definition of a unit vector depends on the norm used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en-GB" b="0" i="0" dirty="0">
                    <a:effectLst/>
                    <a:latin typeface="-apple-system"/>
                  </a:rPr>
                  <a:t>Normalising for the </a:t>
                </a:r>
                <a:r>
                  <a:rPr lang="en-GB" b="0" i="0" dirty="0">
                    <a:solidFill>
                      <a:schemeClr val="accent6"/>
                    </a:solidFill>
                    <a:effectLst/>
                    <a:latin typeface="-apple-system"/>
                  </a:rPr>
                  <a:t>Euclidean norm</a:t>
                </a:r>
                <a:r>
                  <a:rPr lang="en-GB" b="0" i="0" dirty="0">
                    <a:effectLst/>
                    <a:latin typeface="-apple-system"/>
                  </a:rPr>
                  <a:t> can be done by scaling the vector </a:t>
                </a:r>
                <a:r>
                  <a:rPr lang="en-GB" b="0" i="0" dirty="0">
                    <a:effectLst/>
                    <a:latin typeface="MJXc-TeX-main-B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 by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br>
                  <a:rPr lang="en-GB" dirty="0"/>
                </a:br>
                <a:endParaRPr lang="en-US" dirty="0"/>
              </a:p>
              <a:p>
                <a:r>
                  <a:rPr lang="en-GB" b="0" i="0" dirty="0">
                    <a:effectLst/>
                    <a:latin typeface="-apple-system"/>
                  </a:rPr>
                  <a:t>If we think of vectors in the physics sense of having a </a:t>
                </a:r>
                <a:r>
                  <a:rPr lang="en-GB" b="1" i="0" dirty="0">
                    <a:effectLst/>
                    <a:latin typeface="-apple-system"/>
                  </a:rPr>
                  <a:t>direction</a:t>
                </a:r>
                <a:r>
                  <a:rPr lang="en-GB" b="0" i="0" dirty="0">
                    <a:effectLst/>
                    <a:latin typeface="-apple-system"/>
                  </a:rPr>
                  <a:t> and </a:t>
                </a:r>
                <a:r>
                  <a:rPr lang="en-GB" b="1" i="0" dirty="0">
                    <a:effectLst/>
                    <a:latin typeface="-apple-system"/>
                  </a:rPr>
                  <a:t>length</a:t>
                </a:r>
                <a:r>
                  <a:rPr lang="en-GB" b="0" i="0" dirty="0">
                    <a:effectLst/>
                    <a:latin typeface="-apple-system"/>
                  </a:rPr>
                  <a:t>, a unit vector is "</a:t>
                </a:r>
                <a:r>
                  <a:rPr lang="en-GB" b="0" i="0" dirty="0">
                    <a:solidFill>
                      <a:schemeClr val="accent6"/>
                    </a:solidFill>
                    <a:effectLst/>
                    <a:latin typeface="-apple-system"/>
                  </a:rPr>
                  <a:t>pure direction</a:t>
                </a:r>
                <a:r>
                  <a:rPr lang="en-GB" b="0" i="0" dirty="0">
                    <a:effectLst/>
                    <a:latin typeface="-apple-system"/>
                  </a:rPr>
                  <a:t>".</a:t>
                </a: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B1792D8-FC39-B897-2B0A-FFA83BCBD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856455" cy="4606925"/>
              </a:xfrm>
              <a:blipFill>
                <a:blip r:embed="rId2"/>
                <a:stretch>
                  <a:fillRect l="-1294" t="-1923" r="-2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33DFAEF-C0D2-45F4-BC9A-A2B33026D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964" y="891060"/>
            <a:ext cx="2787307" cy="28175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7B830-712C-A589-614A-F5153B855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64" y="3930650"/>
            <a:ext cx="2630906" cy="28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89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products of vectors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D11C0-0587-0C37-FA12-859A78B77BC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inner product</a:t>
                </a:r>
                <a:r>
                  <a:rPr lang="zh-CN" alt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measures the </a:t>
                </a:r>
                <a:r>
                  <a:rPr lang="en-US" b="1" dirty="0">
                    <a:solidFill>
                      <a:schemeClr val="accent6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angle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between two real vectors</a:t>
                </a:r>
                <a:r>
                  <a:rPr lang="en-US" altLang="zh-CN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It is related to the cosine distance: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𝐲</m:t>
                          </m:r>
                        </m:num>
                        <m:den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∥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∥∥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𝐲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∥</m:t>
                          </m:r>
                        </m:den>
                      </m:f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unit vectors, we can forget about the denominator, since 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∥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∥=1,∥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∥=1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GB" altLang="zh-CN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computation of the </a:t>
                </a:r>
                <a:r>
                  <a:rPr lang="en-US" b="1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inner product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for real-valued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is simply the sum of the elementwise products: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D11C0-0587-0C37-FA12-859A78B77B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664" t="-1648" b="-30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916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8C81DF-0D52-9FFA-7110-5EB2147A0D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altLang="zh-CN" b="1" dirty="0">
                <a:effectLst/>
              </a:rPr>
              <a:t>Inner</a:t>
            </a:r>
            <a:r>
              <a:rPr lang="en-GB" b="1" dirty="0">
                <a:effectLst/>
              </a:rPr>
              <a:t> product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in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 err="1"/>
              <a:t>N</a:t>
            </a:r>
            <a:r>
              <a:rPr lang="en-US" altLang="zh-CN" dirty="0" err="1">
                <a:effectLst/>
              </a:rPr>
              <a:t>umpy</a:t>
            </a:r>
            <a:endParaRPr lang="en-US" altLang="zh-CN" dirty="0">
              <a:effectLst/>
            </a:endParaRPr>
          </a:p>
          <a:p>
            <a:pPr algn="l"/>
            <a:endParaRPr lang="en-US" b="0" i="0" dirty="0">
              <a:solidFill>
                <a:srgbClr val="000000"/>
              </a:solidFill>
            </a:endParaRPr>
          </a:p>
          <a:p>
            <a:pPr algn="l"/>
            <a:endParaRPr lang="en-US" dirty="0">
              <a:solidFill>
                <a:srgbClr val="000000"/>
              </a:solidFill>
              <a:effectLst/>
            </a:endParaRPr>
          </a:p>
          <a:p>
            <a:pPr algn="l"/>
            <a:endParaRPr lang="en-US" b="0" i="0" dirty="0">
              <a:solidFill>
                <a:srgbClr val="000000"/>
              </a:solidFill>
            </a:endParaRPr>
          </a:p>
          <a:p>
            <a:pPr algn="l"/>
            <a:endParaRPr lang="en-US" dirty="0">
              <a:solidFill>
                <a:srgbClr val="000000"/>
              </a:solidFill>
              <a:effectLst/>
            </a:endParaRPr>
          </a:p>
          <a:p>
            <a:pPr algn="l"/>
            <a:endParaRPr lang="en-US" b="0" i="0" dirty="0">
              <a:solidFill>
                <a:srgbClr val="000000"/>
              </a:solidFill>
            </a:endParaRPr>
          </a:p>
          <a:p>
            <a:pPr algn="l"/>
            <a:endParaRPr lang="en-US" dirty="0">
              <a:solidFill>
                <a:srgbClr val="000000"/>
              </a:solidFill>
              <a:effectLst/>
            </a:endParaRPr>
          </a:p>
          <a:p>
            <a:pPr algn="l"/>
            <a:endParaRPr lang="en-US" dirty="0">
              <a:solidFill>
                <a:srgbClr val="000000"/>
              </a:solidFill>
              <a:effectLst/>
            </a:endParaRPr>
          </a:p>
          <a:p>
            <a:pPr algn="l"/>
            <a:endParaRPr lang="en-US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dirty="0">
                <a:effectLst/>
                <a:latin typeface="var(--jp-content-font-family)"/>
              </a:rPr>
              <a:t>The inner product is only defined between vectors of the same dimension, and only in inner product spaces.</a:t>
            </a:r>
            <a:br>
              <a:rPr lang="en-GB" b="0" i="0" dirty="0">
                <a:solidFill>
                  <a:srgbClr val="000000"/>
                </a:solidFill>
                <a:effectLst/>
                <a:latin typeface="var(--jp-code-font-family)"/>
              </a:rPr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var(--jp-code-font-family)"/>
              </a:rPr>
              <a:t>-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jp-code-font-family)"/>
              </a:rPr>
              <a:t> </a:t>
            </a:r>
            <a:r>
              <a:rPr lang="en-GB" dirty="0" err="1">
                <a:solidFill>
                  <a:srgbClr val="E75C58"/>
                </a:solidFill>
                <a:effectLst/>
              </a:rPr>
              <a:t>ValueError</a:t>
            </a:r>
            <a:endParaRPr lang="en-GB" b="0" i="0" dirty="0">
              <a:solidFill>
                <a:srgbClr val="000000"/>
              </a:solidFill>
              <a:effectLst/>
              <a:latin typeface="var(--jp-code-font-family)"/>
            </a:endParaRPr>
          </a:p>
          <a:p>
            <a:pPr algn="l"/>
            <a:endParaRPr lang="en-GB" b="0" i="0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1972C-1657-E650-4650-267DF8991E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b="1" dirty="0"/>
              <a:t>Don’t</a:t>
            </a:r>
            <a:r>
              <a:rPr lang="zh-CN" altLang="en-US" b="1" dirty="0"/>
              <a:t> </a:t>
            </a:r>
            <a:r>
              <a:rPr lang="en-US" altLang="zh-CN" b="1" dirty="0"/>
              <a:t>mix</a:t>
            </a:r>
            <a:r>
              <a:rPr lang="zh-CN" altLang="en-US" b="1" dirty="0"/>
              <a:t> </a:t>
            </a:r>
            <a:r>
              <a:rPr lang="en-US" altLang="zh-CN" b="1" dirty="0"/>
              <a:t>it</a:t>
            </a:r>
            <a:r>
              <a:rPr lang="zh-CN" altLang="en-US" b="1" dirty="0"/>
              <a:t> </a:t>
            </a:r>
            <a:r>
              <a:rPr lang="en-US" altLang="zh-CN" b="1" dirty="0"/>
              <a:t>with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d</a:t>
            </a:r>
            <a:r>
              <a:rPr lang="en-US" b="1" dirty="0"/>
              <a:t>ot product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A8879B-A50A-26E9-3BD9-7FF4E289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products of vectors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DE3ED-8341-378D-85AE-79FC9FB85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66" y="2062056"/>
            <a:ext cx="3282248" cy="2129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8CC84C-220A-2B5B-3CFC-F0BED4D95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105" y="2235050"/>
            <a:ext cx="5470625" cy="3315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DA12A5-7FF2-3824-3427-A06E90AAF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031" y="5768468"/>
            <a:ext cx="40005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15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vector statistics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11C0-0587-0C37-FA12-859A78B77B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6708174" cy="46069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-apple-system"/>
              </a:rPr>
              <a:t>Some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1" i="0" dirty="0">
                <a:effectLst/>
                <a:latin typeface="-apple-system"/>
              </a:rPr>
              <a:t>statistics</a:t>
            </a:r>
            <a:r>
              <a:rPr lang="en-GB" b="0" i="0" dirty="0">
                <a:effectLst/>
                <a:latin typeface="-apple-system"/>
              </a:rPr>
              <a:t> that generalise the statistics of ordinary real numbers</a:t>
            </a:r>
          </a:p>
          <a:p>
            <a:pPr marL="0" indent="0">
              <a:buNone/>
            </a:pPr>
            <a:endParaRPr lang="en-GB" dirty="0"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mean vector</a:t>
            </a:r>
            <a:r>
              <a:rPr lang="en-GB" b="0" i="0" dirty="0">
                <a:effectLst/>
                <a:latin typeface="-apple-system"/>
              </a:rPr>
              <a:t> of a collection of </a:t>
            </a:r>
            <a:r>
              <a:rPr lang="en-GB" b="0" i="0" dirty="0">
                <a:effectLst/>
                <a:latin typeface="MJXc-TeX-math-I"/>
              </a:rPr>
              <a:t>N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vectors</a:t>
            </a: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The mean vector is the </a:t>
            </a:r>
            <a:r>
              <a:rPr lang="en-GB" b="1" i="0" dirty="0">
                <a:effectLst/>
                <a:latin typeface="-apple-system"/>
              </a:rPr>
              <a:t>geometric centroid</a:t>
            </a:r>
            <a:r>
              <a:rPr lang="en-GB" b="0" i="0" dirty="0">
                <a:effectLst/>
                <a:latin typeface="-apple-system"/>
              </a:rPr>
              <a:t> of a set of vectors and can be thought of as capturing "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centre of mass</a:t>
            </a:r>
            <a:r>
              <a:rPr lang="en-GB" b="0" i="0" dirty="0">
                <a:effectLst/>
                <a:latin typeface="-apple-system"/>
              </a:rPr>
              <a:t>" of those vectors.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CA588-B15B-F12E-04B2-3270813B0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63" y="3295650"/>
            <a:ext cx="3797300" cy="127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893C2-BCD6-1E8F-38BA-C6B1D03EB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905" y="1635941"/>
            <a:ext cx="3327400" cy="76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7B19E3-9A98-5364-1EFA-10C5BF440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188" y="3480787"/>
            <a:ext cx="4829812" cy="19585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A230E9-E41D-B632-E701-14B12232EE10}"/>
              </a:ext>
            </a:extLst>
          </p:cNvPr>
          <p:cNvSpPr txBox="1"/>
          <p:nvPr/>
        </p:nvSpPr>
        <p:spPr>
          <a:xfrm>
            <a:off x="7447005" y="2728804"/>
            <a:ext cx="379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</a:rPr>
              <a:t>axis</a:t>
            </a:r>
            <a:r>
              <a:rPr lang="en-GB" b="1" dirty="0">
                <a:effectLst/>
              </a:rPr>
              <a:t>=</a:t>
            </a:r>
            <a:r>
              <a:rPr lang="en-GB" dirty="0">
                <a:effectLst/>
              </a:rPr>
              <a:t>0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purpose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vector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3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816D1DA-424A-96F9-92D5-A725E9A1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dirty="0"/>
              <a:t>enter a dataset 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B0CCDB-AD1D-A882-6832-3D59E255C0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5213007" cy="4606925"/>
          </a:xfrm>
        </p:spPr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We can </a:t>
            </a:r>
            <a:r>
              <a:rPr lang="en-GB" b="1" i="0" dirty="0" err="1">
                <a:effectLst/>
                <a:latin typeface="-apple-system"/>
              </a:rPr>
              <a:t>center</a:t>
            </a:r>
            <a:r>
              <a:rPr lang="en-GB" b="0" i="0" dirty="0">
                <a:effectLst/>
                <a:latin typeface="-apple-system"/>
              </a:rPr>
              <a:t> a dataset stored as an array of vectors to </a:t>
            </a:r>
            <a:r>
              <a:rPr lang="en-GB" b="1" i="0" dirty="0">
                <a:effectLst/>
                <a:latin typeface="-apple-system"/>
              </a:rPr>
              <a:t>zero mean</a:t>
            </a:r>
            <a:r>
              <a:rPr lang="en-GB" b="0" i="0" dirty="0">
                <a:effectLst/>
                <a:latin typeface="-apple-system"/>
              </a:rPr>
              <a:t> by just subtracting the mean vector from every row.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09DEA2-183B-CC59-0E2E-5C397127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15" y="1627188"/>
            <a:ext cx="4000500" cy="3962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DEF71D-405A-CE91-292B-46BC165F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85" y="3429000"/>
            <a:ext cx="4136940" cy="279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21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High-dimensional vector spaces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11C0-0587-0C37-FA12-859A78B77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b="0" i="0" dirty="0">
                <a:effectLst/>
                <a:latin typeface="-apple-system"/>
              </a:rPr>
              <a:t>Data</a:t>
            </a:r>
            <a:r>
              <a:rPr lang="en-GB" b="0" i="0" dirty="0">
                <a:effectLst/>
                <a:latin typeface="-apple-system"/>
              </a:rPr>
              <a:t> science often involves </a:t>
            </a:r>
            <a:r>
              <a:rPr lang="en-GB" b="1" i="0" dirty="0">
                <a:effectLst/>
                <a:latin typeface="-apple-system"/>
              </a:rPr>
              <a:t>high dimensional vector spaces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High-dimensional can mean any </a:t>
            </a:r>
            <a:r>
              <a:rPr lang="en-GB" b="0" i="0" dirty="0">
                <a:effectLst/>
                <a:latin typeface="MJXc-TeX-math-I"/>
              </a:rPr>
              <a:t>d</a:t>
            </a:r>
            <a:r>
              <a:rPr lang="en-GB" b="0" i="0" dirty="0">
                <a:effectLst/>
                <a:latin typeface="MJXc-TeX-main-R"/>
              </a:rPr>
              <a:t>&gt;3</a:t>
            </a:r>
            <a:r>
              <a:rPr lang="en-GB" b="0" i="0" dirty="0">
                <a:effectLst/>
                <a:latin typeface="-apple-system"/>
              </a:rPr>
              <a:t>; 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a 20-dimensional feature set might be called medium-dimensional; 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a 1000-dimensional might be called high-dimensional; 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a 1M-dimensional dataset might be called extremely high-dimensional</a:t>
            </a:r>
          </a:p>
          <a:p>
            <a:pPr lvl="1"/>
            <a:endParaRPr lang="en-GB" dirty="0"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Curse of dimensionality</a:t>
            </a:r>
            <a:r>
              <a:rPr lang="en-US" altLang="zh-CN" b="1" i="0" dirty="0">
                <a:effectLst/>
                <a:latin typeface="-apple-system"/>
              </a:rPr>
              <a:t>: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Many algorithms that work really well in low dimensions break down in higher dimensions. </a:t>
            </a:r>
            <a:endParaRPr lang="en-GB" b="1" i="0" dirty="0">
              <a:effectLst/>
              <a:latin typeface="-apple-system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7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E95C93-E169-3576-3FC4-80328B92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sailing weather station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C58D0-6A87-4C0F-0B20-C847103274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5386001" cy="4606925"/>
          </a:xfrm>
        </p:spPr>
        <p:txBody>
          <a:bodyPr/>
          <a:lstStyle/>
          <a:p>
            <a:r>
              <a:rPr lang="en-US" altLang="zh-CN" b="1" dirty="0"/>
              <a:t>Task:</a:t>
            </a:r>
            <a:r>
              <a:rPr lang="zh-CN" altLang="en-US" dirty="0"/>
              <a:t> </a:t>
            </a:r>
            <a:r>
              <a:rPr lang="en-GB" b="0" i="0" dirty="0">
                <a:effectLst/>
                <a:latin typeface="-apple-system"/>
              </a:rPr>
              <a:t>to measure local atmospheric conditions during voyages</a:t>
            </a:r>
          </a:p>
          <a:p>
            <a:r>
              <a:rPr lang="en-US" altLang="zh-CN" b="1" dirty="0">
                <a:latin typeface="-apple-system"/>
              </a:rPr>
              <a:t>Input</a:t>
            </a:r>
            <a:r>
              <a:rPr lang="en-US" altLang="zh-CN" dirty="0">
                <a:latin typeface="-apple-system"/>
              </a:rPr>
              <a:t>: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wind speed, temperature, humidity, sunshine hours, etc.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over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10,000 measurements</a:t>
            </a:r>
          </a:p>
          <a:p>
            <a:r>
              <a:rPr lang="en-US" altLang="zh-CN" b="1" dirty="0">
                <a:latin typeface="-apple-system"/>
              </a:rPr>
              <a:t>Output: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1" dirty="0">
                <a:effectLst/>
                <a:latin typeface="-apple-system"/>
              </a:rPr>
              <a:t>is it likely to be above 30C tomorrow?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EA6611-B1BE-8359-2283-7AF3CD1FF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464" y="2084087"/>
            <a:ext cx="5805736" cy="415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15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1E5AB6-B801-413A-A5F0-3456DE312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Temperature</a:t>
            </a:r>
            <a:r>
              <a:rPr lang="zh-CN" altLang="en-US" dirty="0"/>
              <a:t> </a:t>
            </a:r>
            <a:r>
              <a:rPr lang="en-US" altLang="zh-CN" dirty="0"/>
              <a:t>(1D)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11C0-0587-0C37-FA12-859A78B77B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C4B48D-40B1-7CFB-4EA3-FD3188B04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Temperature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Humidity</a:t>
            </a:r>
            <a:r>
              <a:rPr lang="zh-CN" altLang="en-US" dirty="0"/>
              <a:t> </a:t>
            </a:r>
            <a:r>
              <a:rPr lang="en-US" altLang="zh-CN" dirty="0"/>
              <a:t>(3D)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917980-3B0D-24EF-C56A-F070653A3CA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42259-DDEF-2AFD-4863-E48B3135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sailing weather station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3822F-3773-06CA-58A8-F221ADD2A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46" y="2583807"/>
            <a:ext cx="3818924" cy="3279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35FA64-66F1-3B54-6BA7-6234D42B6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46" y="2648580"/>
            <a:ext cx="3568700" cy="314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84B0C3-3973-7624-6DEE-83A7E5DAB7D2}"/>
              </a:ext>
            </a:extLst>
          </p:cNvPr>
          <p:cNvSpPr txBox="1"/>
          <p:nvPr/>
        </p:nvSpPr>
        <p:spPr>
          <a:xfrm>
            <a:off x="5662141" y="5963836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-apple-system"/>
              </a:rPr>
              <a:t>Now there are 20 bins in each dimension, for 400 bins total. 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5B69C-7EBC-476F-D44D-71F058055369}"/>
              </a:ext>
            </a:extLst>
          </p:cNvPr>
          <p:cNvSpPr txBox="1"/>
          <p:nvPr/>
        </p:nvSpPr>
        <p:spPr>
          <a:xfrm>
            <a:off x="477485" y="5983686"/>
            <a:ext cx="4779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-apple-system"/>
              </a:rPr>
              <a:t>Now there are 20 bins in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total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for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this</a:t>
            </a:r>
            <a:r>
              <a:rPr lang="en-GB" b="0" i="0" dirty="0">
                <a:effectLst/>
                <a:latin typeface="-apple-system"/>
              </a:rPr>
              <a:t> dimension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04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10F02-7BE0-F2EC-B36E-0DAD4C3E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sailing weather station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6698D-B9A1-0A37-7974-4C42CD0DB0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If we had 10 different measurements  (air temperature, air humidity, latitude, longitude, wind speed, wind direction, precipitation, time of day, solar power, sea temperature)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we wanted to subdivide them into 20 bins each</a:t>
            </a:r>
          </a:p>
          <a:p>
            <a:pPr lvl="1"/>
            <a:r>
              <a:rPr lang="en-US" altLang="zh-CN" dirty="0">
                <a:latin typeface="-apple-system"/>
              </a:rPr>
              <a:t>How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many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bins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in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total?</a:t>
            </a:r>
          </a:p>
        </p:txBody>
      </p:sp>
    </p:spTree>
    <p:extLst>
      <p:ext uri="{BB962C8B-B14F-4D97-AF65-F5344CB8AC3E}">
        <p14:creationId xmlns:p14="http://schemas.microsoft.com/office/powerpoint/2010/main" val="17213982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10F02-7BE0-F2EC-B36E-0DAD4C3E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sailing weather station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6698D-B9A1-0A37-7974-4C42CD0DB0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If we had 10 different measurements  (air temperature, air humidity, latitude, longitude, wind speed, wind direction, precipitation, time of day, solar power, sea temperature)</a:t>
            </a:r>
          </a:p>
          <a:p>
            <a:pPr lvl="1"/>
            <a:r>
              <a:rPr lang="en-US" altLang="zh-CN" b="0" i="0" dirty="0">
                <a:effectLst/>
                <a:latin typeface="-apple-system"/>
              </a:rPr>
              <a:t>W</a:t>
            </a:r>
            <a:r>
              <a:rPr lang="en-GB" b="0" i="0" dirty="0">
                <a:effectLst/>
                <a:latin typeface="-apple-system"/>
              </a:rPr>
              <a:t>e wanted to subdivide them into 20 bins each</a:t>
            </a:r>
          </a:p>
          <a:p>
            <a:pPr lvl="1"/>
            <a:r>
              <a:rPr lang="en-US" altLang="zh-CN" dirty="0">
                <a:latin typeface="-apple-system"/>
              </a:rPr>
              <a:t>How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many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bins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in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total?</a:t>
            </a:r>
          </a:p>
          <a:p>
            <a:pPr lvl="1"/>
            <a:endParaRPr lang="en-US" dirty="0">
              <a:latin typeface="-apple-system"/>
            </a:endParaRPr>
          </a:p>
          <a:p>
            <a:pPr lvl="1"/>
            <a:endParaRPr lang="en-US" dirty="0">
              <a:latin typeface="-apple-system"/>
            </a:endParaRPr>
          </a:p>
          <a:p>
            <a:pPr lvl="1"/>
            <a:endParaRPr lang="en-US" dirty="0">
              <a:latin typeface="-apple-system"/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even using 8 bit unsigned integers this would be 10TB of memory</a:t>
            </a:r>
          </a:p>
          <a:p>
            <a:r>
              <a:rPr lang="en-GB" b="0" i="0" dirty="0">
                <a:effectLst/>
                <a:latin typeface="-apple-system"/>
              </a:rPr>
              <a:t>But we only have 10,000 measurements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6E309-DE3F-6FEF-896A-6C15DAD6BC42}"/>
              </a:ext>
            </a:extLst>
          </p:cNvPr>
          <p:cNvSpPr txBox="1"/>
          <p:nvPr/>
        </p:nvSpPr>
        <p:spPr>
          <a:xfrm>
            <a:off x="2038866" y="3361038"/>
            <a:ext cx="6079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effectLst/>
                <a:latin typeface="-apple-system"/>
              </a:rPr>
              <a:t>We</a:t>
            </a:r>
            <a:r>
              <a:rPr lang="en-GB" sz="2400" b="0" i="0" dirty="0">
                <a:effectLst/>
                <a:latin typeface="-apple-system"/>
              </a:rPr>
              <a:t> would need a histogram with </a:t>
            </a:r>
            <a:r>
              <a:rPr lang="en-US" altLang="zh-CN" sz="2400" b="0" i="0" dirty="0">
                <a:effectLst/>
                <a:latin typeface="MJXc-TeX-main-R"/>
              </a:rPr>
              <a:t>20^10</a:t>
            </a:r>
            <a:r>
              <a:rPr lang="en-GB" sz="2400" b="0" i="0" dirty="0">
                <a:effectLst/>
                <a:latin typeface="-apple-system"/>
              </a:rPr>
              <a:t> bins -- over </a:t>
            </a:r>
            <a:r>
              <a:rPr lang="en-GB" sz="2400" b="1" i="1" dirty="0">
                <a:effectLst/>
                <a:latin typeface="-apple-system"/>
              </a:rPr>
              <a:t>10 trillion</a:t>
            </a:r>
            <a:r>
              <a:rPr lang="en-GB" sz="2400" b="0" i="0" dirty="0">
                <a:effectLst/>
                <a:latin typeface="-apple-system"/>
              </a:rPr>
              <a:t> bins.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74407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10F02-7BE0-F2EC-B36E-0DAD4C3E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sailing weather station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6698D-B9A1-0A37-7974-4C42CD0DB0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If we had 10 different measurements  (air temperature, air humidity, latitude, longitude, wind speed, wind direction, precipitation, time of day, solar power, sea temperature)</a:t>
            </a:r>
          </a:p>
          <a:p>
            <a:pPr lvl="1"/>
            <a:r>
              <a:rPr lang="en-US" altLang="zh-CN" b="0" i="0" dirty="0">
                <a:effectLst/>
                <a:latin typeface="-apple-system"/>
              </a:rPr>
              <a:t>W</a:t>
            </a:r>
            <a:r>
              <a:rPr lang="en-GB" b="0" i="0" dirty="0">
                <a:effectLst/>
                <a:latin typeface="-apple-system"/>
              </a:rPr>
              <a:t>e wanted to subdivide them into 20 bins each</a:t>
            </a:r>
          </a:p>
          <a:p>
            <a:pPr lvl="1"/>
            <a:r>
              <a:rPr lang="en-US" altLang="zh-CN" dirty="0">
                <a:latin typeface="-apple-system"/>
              </a:rPr>
              <a:t>How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many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bins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in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total?</a:t>
            </a:r>
          </a:p>
          <a:p>
            <a:pPr lvl="1"/>
            <a:endParaRPr lang="en-US" dirty="0">
              <a:latin typeface="-apple-system"/>
            </a:endParaRPr>
          </a:p>
          <a:p>
            <a:pPr lvl="1"/>
            <a:endParaRPr lang="en-US" dirty="0">
              <a:latin typeface="-apple-system"/>
            </a:endParaRPr>
          </a:p>
          <a:p>
            <a:pPr lvl="1"/>
            <a:endParaRPr lang="en-US" dirty="0">
              <a:latin typeface="-apple-system"/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even using 8 bit unsigned integers this would be 10TB of memory</a:t>
            </a:r>
          </a:p>
          <a:p>
            <a:r>
              <a:rPr lang="en-GB" b="0" i="0" dirty="0">
                <a:effectLst/>
                <a:latin typeface="-apple-system"/>
              </a:rPr>
              <a:t>But we only have 10,000 measurements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6E309-DE3F-6FEF-896A-6C15DAD6BC42}"/>
              </a:ext>
            </a:extLst>
          </p:cNvPr>
          <p:cNvSpPr txBox="1"/>
          <p:nvPr/>
        </p:nvSpPr>
        <p:spPr>
          <a:xfrm>
            <a:off x="2038866" y="3361038"/>
            <a:ext cx="6079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effectLst/>
                <a:latin typeface="-apple-system"/>
              </a:rPr>
              <a:t>We</a:t>
            </a:r>
            <a:r>
              <a:rPr lang="en-GB" sz="2400" b="0" i="0" dirty="0">
                <a:effectLst/>
                <a:latin typeface="-apple-system"/>
              </a:rPr>
              <a:t> would need a histogram with </a:t>
            </a:r>
            <a:r>
              <a:rPr lang="en-US" altLang="zh-CN" sz="2400" b="0" i="0" dirty="0">
                <a:effectLst/>
                <a:latin typeface="MJXc-TeX-main-R"/>
              </a:rPr>
              <a:t>20^10</a:t>
            </a:r>
            <a:r>
              <a:rPr lang="en-GB" sz="2400" b="0" i="0" dirty="0">
                <a:effectLst/>
                <a:latin typeface="-apple-system"/>
              </a:rPr>
              <a:t> bins -- over </a:t>
            </a:r>
            <a:r>
              <a:rPr lang="en-GB" sz="2400" b="1" i="1" dirty="0">
                <a:effectLst/>
                <a:latin typeface="-apple-system"/>
              </a:rPr>
              <a:t>10 trillion</a:t>
            </a:r>
            <a:r>
              <a:rPr lang="en-GB" sz="2400" b="0" i="0" dirty="0">
                <a:effectLst/>
                <a:latin typeface="-apple-system"/>
              </a:rPr>
              <a:t> bins.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564E9-AD6B-48AD-9D7B-BCE085120228}"/>
              </a:ext>
            </a:extLst>
          </p:cNvPr>
          <p:cNvSpPr txBox="1"/>
          <p:nvPr/>
        </p:nvSpPr>
        <p:spPr>
          <a:xfrm>
            <a:off x="431801" y="5325720"/>
            <a:ext cx="111464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var(--jp-content-font-family)"/>
              </a:rPr>
              <a:t>Curse of dimensionality: as dimension increases generalisation gets harder </a:t>
            </a:r>
            <a:r>
              <a:rPr lang="en-GB" sz="2800" b="1" i="1" dirty="0">
                <a:effectLst/>
                <a:latin typeface="var(--jp-content-font-family)"/>
              </a:rPr>
              <a:t>exponentially</a:t>
            </a:r>
            <a:endParaRPr lang="en-GB" sz="2800" dirty="0">
              <a:effectLst/>
              <a:latin typeface="var(--jp-content-font-family)"/>
            </a:endParaRPr>
          </a:p>
          <a:p>
            <a:pPr algn="l"/>
            <a:br>
              <a:rPr lang="en-GB" b="0" i="0" dirty="0">
                <a:effectLst/>
                <a:latin typeface="-apple-system"/>
              </a:rPr>
            </a:br>
            <a:endParaRPr lang="en-GB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406381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Matrices and linear operators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7AE7-790E-374F-98D3-31609964D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0" dirty="0">
                <a:effectLst/>
                <a:latin typeface="-apple-system"/>
              </a:rPr>
              <a:t>Matrices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are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2D arrays of reals </a:t>
            </a:r>
            <a:r>
              <a:rPr lang="en-US" altLang="zh-CN" b="0" i="0" dirty="0">
                <a:effectLst/>
                <a:latin typeface="-apple-system"/>
              </a:rPr>
              <a:t>that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define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1" i="0" dirty="0">
                <a:effectLst/>
                <a:latin typeface="-apple-system"/>
              </a:rPr>
              <a:t>linear maps</a:t>
            </a:r>
            <a:r>
              <a:rPr lang="en-GB" b="0" i="0" dirty="0">
                <a:effectLst/>
                <a:latin typeface="-apple-system"/>
              </a:rPr>
              <a:t>;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Vectors represent “points in space"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-apple-system"/>
              </a:rPr>
              <a:t>Matrices represent </a:t>
            </a:r>
            <a:r>
              <a:rPr lang="en-GB" b="0" i="1" dirty="0">
                <a:solidFill>
                  <a:schemeClr val="accent6"/>
                </a:solidFill>
                <a:effectLst/>
                <a:latin typeface="-apple-system"/>
              </a:rPr>
              <a:t>operations</a:t>
            </a:r>
            <a:r>
              <a:rPr lang="en-GB" b="0" i="0" dirty="0">
                <a:effectLst/>
                <a:latin typeface="-apple-system"/>
              </a:rPr>
              <a:t> that do things to those points in space.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n-GB" b="0" i="0" dirty="0">
                <a:effectLst/>
                <a:latin typeface="-apple-system"/>
              </a:rPr>
              <a:t>The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operations</a:t>
            </a:r>
            <a:r>
              <a:rPr lang="en-GB" b="0" i="0" dirty="0">
                <a:effectLst/>
                <a:latin typeface="-apple-system"/>
              </a:rPr>
              <a:t> represented by matrices are a particular class of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functions</a:t>
            </a:r>
            <a:r>
              <a:rPr lang="en-GB" b="0" i="0" dirty="0">
                <a:effectLst/>
                <a:latin typeface="-apple-system"/>
              </a:rPr>
              <a:t> on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vectors</a:t>
            </a:r>
          </a:p>
        </p:txBody>
      </p:sp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42DE-7421-406B-3A91-E972574B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matrices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4BDE389-4E1D-31CD-F7B8-A9431C830A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There are many things we can do with matrices:</a:t>
                </a: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They can be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added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subtracted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They can be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scaled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with a scalar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𝑠𝐴</m:t>
                    </m:r>
                  </m:oMath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</m:d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They can be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transposed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this exchanges rows and columns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They can be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applied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to vectors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this applies a matrix to a vector.</a:t>
                </a:r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00000"/>
                  </a:lnSpc>
                  <a:spcAft>
                    <a:spcPts val="600"/>
                  </a:spcAft>
                  <a:buNone/>
                  <a:tabLst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They can be </a:t>
                </a:r>
                <a:r>
                  <a:rPr lang="en-US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multiplied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together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this composes the effect of two matrices</a:t>
                </a: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4BDE389-4E1D-31CD-F7B8-A9431C830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774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2356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B8300E-1C14-4DE4-9FE5-364C4CC1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matrix notation</a:t>
            </a:r>
            <a:br>
              <a:rPr lang="en-US" dirty="0"/>
            </a:b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2DBED9B-C5CF-D74C-E6C2-E3023E7B6F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7041807" cy="4606925"/>
          </a:xfrm>
        </p:spPr>
        <p:txBody>
          <a:bodyPr/>
          <a:lstStyle/>
          <a:p>
            <a:pPr algn="l"/>
            <a:r>
              <a:rPr lang="en-GB" b="0" i="0" dirty="0">
                <a:effectLst/>
                <a:latin typeface="-apple-system"/>
              </a:rPr>
              <a:t>We write matrices as a capital letter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e.g.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1" i="1" dirty="0">
                <a:effectLst/>
                <a:latin typeface="-apple-system"/>
              </a:rPr>
              <a:t>A</a:t>
            </a:r>
            <a:r>
              <a:rPr lang="en-GB" b="0" i="0" dirty="0">
                <a:effectLst/>
                <a:latin typeface="-apple-system"/>
              </a:rPr>
              <a:t>:</a:t>
            </a:r>
          </a:p>
          <a:p>
            <a:pPr algn="l"/>
            <a:endParaRPr lang="en-GB" dirty="0">
              <a:latin typeface="-apple-system"/>
            </a:endParaRPr>
          </a:p>
          <a:p>
            <a:pPr algn="l"/>
            <a:endParaRPr lang="en-GB" b="0" i="0" dirty="0">
              <a:effectLst/>
              <a:latin typeface="-apple-system"/>
            </a:endParaRPr>
          </a:p>
          <a:p>
            <a:pPr algn="l"/>
            <a:endParaRPr lang="en-GB" dirty="0">
              <a:latin typeface="-apple-system"/>
            </a:endParaRPr>
          </a:p>
          <a:p>
            <a:pPr algn="l"/>
            <a:endParaRPr lang="en-GB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n-US" altLang="zh-CN" b="0" i="0" dirty="0">
                <a:effectLst/>
                <a:latin typeface="-apple-system"/>
              </a:rPr>
              <a:t>where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e</a:t>
            </a:r>
            <a:r>
              <a:rPr lang="en-GB" altLang="zh-CN" b="0" i="0" dirty="0">
                <a:effectLst/>
                <a:latin typeface="-apple-system"/>
              </a:rPr>
              <a:t>ach element of the matrix </a:t>
            </a:r>
            <a:r>
              <a:rPr lang="en-US" altLang="zh-CN" b="1" i="1" dirty="0">
                <a:effectLst/>
                <a:latin typeface="-apple-system"/>
              </a:rPr>
              <a:t> A</a:t>
            </a:r>
            <a:r>
              <a:rPr lang="en-GB" altLang="zh-CN" b="0" i="0" dirty="0">
                <a:effectLst/>
                <a:latin typeface="-apple-system"/>
              </a:rPr>
              <a:t> is written as </a:t>
            </a:r>
            <a:r>
              <a:rPr lang="en-US" altLang="zh-CN" b="1" dirty="0">
                <a:latin typeface="-apple-system"/>
              </a:rPr>
              <a:t>A</a:t>
            </a:r>
            <a:r>
              <a:rPr lang="en-GB" altLang="zh-CN" b="0" i="1" baseline="-25000" dirty="0" err="1">
                <a:effectLst/>
                <a:latin typeface="-apple-system"/>
              </a:rPr>
              <a:t>i,j</a:t>
            </a:r>
            <a:r>
              <a:rPr lang="en-GB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altLang="zh-CN" b="0" i="0" dirty="0">
                <a:effectLst/>
                <a:latin typeface="-apple-system"/>
              </a:rPr>
              <a:t>for the </a:t>
            </a:r>
            <a:r>
              <a:rPr lang="en-GB" altLang="zh-CN" b="0" i="1" dirty="0" err="1">
                <a:effectLst/>
                <a:latin typeface="-apple-system"/>
              </a:rPr>
              <a:t>i</a:t>
            </a:r>
            <a:r>
              <a:rPr lang="en-GB" altLang="zh-CN" b="0" i="0" dirty="0" err="1">
                <a:effectLst/>
                <a:latin typeface="-apple-system"/>
              </a:rPr>
              <a:t>th</a:t>
            </a:r>
            <a:r>
              <a:rPr lang="en-GB" altLang="zh-CN" b="0" i="0" dirty="0">
                <a:effectLst/>
                <a:latin typeface="-apple-system"/>
              </a:rPr>
              <a:t> row and </a:t>
            </a:r>
            <a:r>
              <a:rPr lang="en-GB" altLang="zh-CN" b="0" i="1" dirty="0" err="1">
                <a:effectLst/>
                <a:latin typeface="-apple-system"/>
              </a:rPr>
              <a:t>j</a:t>
            </a:r>
            <a:r>
              <a:rPr lang="en-GB" altLang="zh-CN" b="0" i="0" dirty="0" err="1">
                <a:effectLst/>
                <a:latin typeface="-apple-system"/>
              </a:rPr>
              <a:t>th</a:t>
            </a:r>
            <a:r>
              <a:rPr lang="en-GB" altLang="zh-CN" b="0" i="0" dirty="0">
                <a:effectLst/>
                <a:latin typeface="-apple-system"/>
              </a:rPr>
              <a:t> column.</a:t>
            </a:r>
            <a:endParaRPr lang="en-GB" b="0" i="0" dirty="0">
              <a:effectLst/>
              <a:latin typeface="-apple-system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10D65C-6547-2A36-6724-0162EB41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75" y="2322898"/>
            <a:ext cx="4749800" cy="142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202B03-3289-12CC-36AE-5FEBD1514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091" y="1423578"/>
            <a:ext cx="3835399" cy="37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19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B08F-DE64-3548-B9F9-7C9165E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Matrices as maps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A65BA8-9AD2-898C-F878-061AFE2CC8A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GB" b="0" i="0" dirty="0">
                    <a:effectLst/>
                    <a:latin typeface="-apple-system"/>
                  </a:rPr>
                  <a:t>We saw vectors as </a:t>
                </a:r>
                <a:r>
                  <a:rPr lang="en-GB" b="1" i="0" dirty="0">
                    <a:effectLst/>
                    <a:latin typeface="-apple-system"/>
                  </a:rPr>
                  <a:t>points in space</a:t>
                </a:r>
                <a:r>
                  <a:rPr lang="en-US" altLang="zh-CN" dirty="0">
                    <a:latin typeface="-apple-system"/>
                  </a:rPr>
                  <a:t>,</a:t>
                </a:r>
                <a:r>
                  <a:rPr lang="zh-CN" altLang="en-US" dirty="0">
                    <a:latin typeface="-apple-system"/>
                  </a:rPr>
                  <a:t> </a:t>
                </a:r>
                <a:r>
                  <a:rPr lang="en-US" altLang="zh-CN" dirty="0">
                    <a:latin typeface="-apple-system"/>
                  </a:rPr>
                  <a:t>and</a:t>
                </a:r>
                <a:r>
                  <a:rPr lang="zh-CN" altLang="en-US" dirty="0">
                    <a:latin typeface="-apple-system"/>
                  </a:rPr>
                  <a:t> </a:t>
                </a:r>
                <a:r>
                  <a:rPr lang="en-US" altLang="zh-CN" b="0" i="0" dirty="0">
                    <a:effectLst/>
                    <a:latin typeface="-apple-system"/>
                  </a:rPr>
                  <a:t>matrices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as </a:t>
                </a:r>
                <a:r>
                  <a:rPr lang="en-US" altLang="zh-CN" b="1" i="0" dirty="0">
                    <a:effectLst/>
                    <a:latin typeface="-apple-system"/>
                  </a:rPr>
                  <a:t>vector</a:t>
                </a:r>
                <a:r>
                  <a:rPr lang="zh-CN" altLang="en-US" b="1" i="0" dirty="0">
                    <a:effectLst/>
                    <a:latin typeface="-apple-system"/>
                  </a:rPr>
                  <a:t> </a:t>
                </a:r>
                <a:r>
                  <a:rPr lang="en-US" altLang="zh-CN" b="1" i="0" dirty="0">
                    <a:effectLst/>
                    <a:latin typeface="-apple-system"/>
                  </a:rPr>
                  <a:t>transform</a:t>
                </a:r>
                <a:r>
                  <a:rPr lang="en-GB" b="1" i="0" dirty="0">
                    <a:effectLst/>
                    <a:latin typeface="-apple-system"/>
                  </a:rPr>
                  <a:t> in space</a:t>
                </a:r>
                <a:r>
                  <a:rPr lang="en-GB" b="0" i="0" dirty="0">
                    <a:effectLst/>
                    <a:latin typeface="-apple-system"/>
                  </a:rPr>
                  <a:t>. </a:t>
                </a:r>
              </a:p>
              <a:p>
                <a:endParaRPr lang="en-GB" b="0" i="0" dirty="0">
                  <a:effectLst/>
                  <a:latin typeface="-apple-system"/>
                </a:endParaRPr>
              </a:p>
              <a:p>
                <a:r>
                  <a:rPr lang="en-GB" b="0" i="0" dirty="0">
                    <a:effectLst/>
                    <a:latin typeface="-apple-system"/>
                  </a:rPr>
                  <a:t>Matrices represent </a:t>
                </a:r>
                <a:r>
                  <a:rPr lang="en-GB" b="1" i="0" dirty="0">
                    <a:effectLst/>
                    <a:latin typeface="-apple-system"/>
                  </a:rPr>
                  <a:t>linear maps</a:t>
                </a:r>
                <a:r>
                  <a:rPr lang="en-GB" b="0" i="0" dirty="0">
                    <a:effectLst/>
                    <a:latin typeface="-apple-system"/>
                  </a:rPr>
                  <a:t> -- these are functions applied to vectors which outputs vectors. </a:t>
                </a:r>
                <a:r>
                  <a:rPr lang="en-US" altLang="zh-CN" b="0" i="0" dirty="0">
                    <a:effectLst/>
                    <a:latin typeface="-apple-system"/>
                  </a:rPr>
                  <a:t>(</a:t>
                </a:r>
                <a:r>
                  <a:rPr lang="en-GB" b="0" i="0" dirty="0">
                    <a:effectLst/>
                    <a:latin typeface="-apple-system"/>
                  </a:rPr>
                  <a:t>applying some function </a:t>
                </a:r>
                <a:r>
                  <a:rPr lang="en-GB" b="0" i="0" dirty="0">
                    <a:effectLst/>
                    <a:latin typeface="MJXc-TeX-math-I"/>
                  </a:rPr>
                  <a:t>f</a:t>
                </a:r>
                <a:r>
                  <a:rPr lang="en-GB" b="0" i="0" dirty="0">
                    <a:effectLst/>
                    <a:latin typeface="MJXc-TeX-main-R"/>
                  </a:rPr>
                  <a:t>(</a:t>
                </a:r>
                <a:r>
                  <a:rPr lang="en-GB" b="0" i="0" dirty="0">
                    <a:effectLst/>
                    <a:latin typeface="MJXc-TeX-main-B"/>
                  </a:rPr>
                  <a:t>x</a:t>
                </a:r>
                <a:r>
                  <a:rPr lang="en-GB" b="0" i="0" dirty="0">
                    <a:effectLst/>
                    <a:latin typeface="MJXc-TeX-main-R"/>
                  </a:rPr>
                  <a:t>)</a:t>
                </a:r>
                <a:r>
                  <a:rPr lang="en-GB" b="0" i="0" dirty="0">
                    <a:effectLst/>
                    <a:latin typeface="-apple-system"/>
                  </a:rPr>
                  <a:t> to the vectors</a:t>
                </a:r>
                <a:r>
                  <a:rPr lang="en-US" altLang="zh-CN" b="0" i="0" dirty="0">
                    <a:effectLst/>
                    <a:latin typeface="-apple-system"/>
                  </a:rPr>
                  <a:t>)</a:t>
                </a:r>
              </a:p>
              <a:p>
                <a:endParaRPr lang="en-US" dirty="0">
                  <a:latin typeface="-apple-system"/>
                </a:endParaRPr>
              </a:p>
              <a:p>
                <a:endParaRPr lang="en-US" b="0" i="0" dirty="0">
                  <a:effectLst/>
                  <a:latin typeface="-apple-system"/>
                </a:endParaRPr>
              </a:p>
              <a:p>
                <a:endParaRPr lang="en-US" dirty="0">
                  <a:latin typeface="-apple-system"/>
                </a:endParaRPr>
              </a:p>
              <a:p>
                <a:r>
                  <a:rPr lang="en-US" altLang="zh-CN" b="0" i="0" dirty="0">
                    <a:effectLst/>
                    <a:latin typeface="-apple-system"/>
                  </a:rPr>
                  <a:t>A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GB" b="0" i="0" dirty="0" err="1">
                    <a:effectLst/>
                    <a:latin typeface="MJXc-TeX-math-I"/>
                  </a:rPr>
                  <a:t>n</a:t>
                </a:r>
                <a:r>
                  <a:rPr lang="en-GB" b="0" i="0" dirty="0" err="1">
                    <a:effectLst/>
                    <a:latin typeface="MJXc-TeX-main-R"/>
                  </a:rPr>
                  <a:t>×</a:t>
                </a:r>
                <a:r>
                  <a:rPr lang="en-GB" b="0" i="0" dirty="0" err="1">
                    <a:effectLst/>
                    <a:latin typeface="MJXc-TeX-math-I"/>
                  </a:rPr>
                  <a:t>m</a:t>
                </a:r>
                <a:r>
                  <a:rPr lang="en-GB" b="0" i="0" dirty="0">
                    <a:effectLst/>
                    <a:latin typeface="-apple-system"/>
                  </a:rPr>
                  <a:t> matrix </a:t>
                </a:r>
                <a:r>
                  <a:rPr lang="en-GB" b="1" i="1" dirty="0">
                    <a:effectLst/>
                    <a:latin typeface="MJXc-TeX-math-I"/>
                  </a:rPr>
                  <a:t>A</a:t>
                </a:r>
                <a:r>
                  <a:rPr lang="en-GB" b="0" i="0" dirty="0">
                    <a:effectLst/>
                    <a:latin typeface="-apple-system"/>
                  </a:rPr>
                  <a:t> represents a function </a:t>
                </a:r>
                <a:r>
                  <a:rPr lang="en-GB" b="0" i="0" dirty="0">
                    <a:effectLst/>
                    <a:latin typeface="MJXc-TeX-math-I"/>
                  </a:rPr>
                  <a:t>f</a:t>
                </a:r>
                <a:r>
                  <a:rPr lang="en-GB" b="0" i="0" dirty="0">
                    <a:effectLst/>
                    <a:latin typeface="MJXc-TeX-main-R"/>
                  </a:rPr>
                  <a:t>(</a:t>
                </a:r>
                <a:r>
                  <a:rPr lang="en-GB" b="0" i="0" dirty="0">
                    <a:effectLst/>
                    <a:latin typeface="MJXc-TeX-main-B"/>
                  </a:rPr>
                  <a:t>x</a:t>
                </a:r>
                <a:r>
                  <a:rPr lang="en-GB" b="0" i="0" dirty="0">
                    <a:effectLst/>
                    <a:latin typeface="MJXc-TeX-main-R"/>
                  </a:rPr>
                  <a:t>)</a:t>
                </a:r>
                <a:r>
                  <a:rPr lang="en-GB" b="0" i="0" dirty="0">
                    <a:effectLst/>
                    <a:latin typeface="-apple-system"/>
                  </a:rPr>
                  <a:t>  taking </a:t>
                </a:r>
                <a:r>
                  <a:rPr lang="en-GB" b="0" i="0" dirty="0">
                    <a:effectLst/>
                    <a:latin typeface="MJXc-TeX-math-I"/>
                  </a:rPr>
                  <a:t>m</a:t>
                </a:r>
                <a:r>
                  <a:rPr lang="en-GB" b="0" i="0" dirty="0">
                    <a:effectLst/>
                    <a:latin typeface="-apple-system"/>
                  </a:rPr>
                  <a:t> dimensional vectors to </a:t>
                </a:r>
                <a:r>
                  <a:rPr lang="en-GB" b="0" i="0" dirty="0">
                    <a:effectLst/>
                    <a:latin typeface="MJXc-TeX-math-I"/>
                  </a:rPr>
                  <a:t>n</a:t>
                </a:r>
                <a:r>
                  <a:rPr lang="en-GB" b="0" i="0" dirty="0">
                    <a:effectLst/>
                    <a:latin typeface="-apple-system"/>
                  </a:rPr>
                  <a:t> dimensional vectors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b="0" i="0" dirty="0">
                    <a:effectLst/>
                    <a:latin typeface="-apple-system"/>
                  </a:rPr>
                  <a:t>)</a:t>
                </a:r>
                <a:endParaRPr lang="en-US" b="0" i="0" dirty="0">
                  <a:effectLst/>
                  <a:latin typeface="-apple-system"/>
                </a:endParaRPr>
              </a:p>
              <a:p>
                <a:r>
                  <a:rPr lang="en-GB" b="0" i="0" dirty="0">
                    <a:effectLst/>
                    <a:latin typeface="-apple-system"/>
                  </a:rPr>
                  <a:t>Matrices capture a special set of functions that preserve important properties of the vectors they act on.</a:t>
                </a:r>
              </a:p>
              <a:p>
                <a:endParaRPr lang="en-GB" dirty="0">
                  <a:latin typeface="-apple-system"/>
                </a:endParaRPr>
              </a:p>
              <a:p>
                <a:endParaRPr lang="en-GB" dirty="0">
                  <a:latin typeface="-apple-system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A65BA8-9AD2-898C-F878-061AFE2CC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774" t="-1648" r="-996" b="-2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3BB7D9A-9D9B-6F00-059A-CDDA92A73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917" y="3429000"/>
            <a:ext cx="29718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57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C0C2-8997-75A1-A926-2D924C8C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en-US" dirty="0"/>
              <a:t> maps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63D1-8697-C146-076A-59F74B8D09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5657318" cy="46069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Linearity</a:t>
            </a:r>
          </a:p>
          <a:p>
            <a:r>
              <a:rPr lang="en-GB" b="0" i="0" dirty="0">
                <a:effectLst/>
                <a:latin typeface="-apple-system"/>
              </a:rPr>
              <a:t>the transform of the sum of two vectors is the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same</a:t>
            </a:r>
            <a:r>
              <a:rPr lang="en-GB" b="0" i="0" dirty="0">
                <a:effectLst/>
                <a:latin typeface="-apple-system"/>
              </a:rPr>
              <a:t> as the sum of the transform of two vectors</a:t>
            </a:r>
            <a:endParaRPr lang="en-US" dirty="0"/>
          </a:p>
          <a:p>
            <a:r>
              <a:rPr lang="en-GB" b="0" i="0" dirty="0">
                <a:effectLst/>
                <a:latin typeface="-apple-system"/>
              </a:rPr>
              <a:t>the transform of a scalar multiple of a vector is the </a:t>
            </a:r>
            <a:r>
              <a:rPr lang="en-GB" b="0" i="0" dirty="0">
                <a:solidFill>
                  <a:schemeClr val="accent6"/>
                </a:solidFill>
                <a:effectLst/>
                <a:latin typeface="-apple-system"/>
              </a:rPr>
              <a:t>same</a:t>
            </a:r>
            <a:r>
              <a:rPr lang="en-GB" b="0" i="0" dirty="0">
                <a:effectLst/>
                <a:latin typeface="-apple-system"/>
              </a:rPr>
              <a:t> as the scalar multiple of the transform of a vector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35DE7-756A-EB08-867E-636E9FE30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068" y="2597150"/>
            <a:ext cx="5054600" cy="133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7A363-B506-24B3-106D-F0B387C2124D}"/>
              </a:ext>
            </a:extLst>
          </p:cNvPr>
          <p:cNvSpPr txBox="1"/>
          <p:nvPr/>
        </p:nvSpPr>
        <p:spPr>
          <a:xfrm>
            <a:off x="2593435" y="4713049"/>
            <a:ext cx="6699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effectLst/>
                <a:latin typeface="var(--jp-content-font-family)"/>
              </a:rPr>
              <a:t>Anything which is linear is easy. Anything which isn't linear is hard.</a:t>
            </a:r>
            <a:endParaRPr lang="en-GB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07779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F1E7-84A3-A349-8AEB-5A5CFDB8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Transforms and projections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E1D042F-868F-834F-96EA-D677E5DCBC3A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A </a:t>
                </a:r>
                <a:r>
                  <a:rPr lang="en-US" b="1" dirty="0">
                    <a:effectLst/>
                    <a:ea typeface="Calibri" panose="020F0502020204030204" pitchFamily="34" charset="0"/>
                  </a:rPr>
                  <a:t>linear map 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is any function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which satisfies the </a:t>
                </a:r>
                <a:r>
                  <a:rPr lang="en-US" dirty="0">
                    <a:solidFill>
                      <a:schemeClr val="accent6"/>
                    </a:solidFill>
                    <a:effectLst/>
                    <a:ea typeface="Calibri" panose="020F0502020204030204" pitchFamily="34" charset="0"/>
                  </a:rPr>
                  <a:t>linearity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requirements.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If the map represented by the matrix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then it maps from a vector space onto the </a:t>
                </a:r>
                <a:r>
                  <a:rPr lang="en-US" dirty="0">
                    <a:solidFill>
                      <a:schemeClr val="accent6"/>
                    </a:solidFill>
                    <a:effectLst/>
                    <a:ea typeface="Calibri" panose="020F0502020204030204" pitchFamily="34" charset="0"/>
                  </a:rPr>
                  <a:t>same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vector space (e.g.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), and it is called a </a:t>
                </a:r>
                <a:r>
                  <a:rPr lang="en-US" b="1" dirty="0">
                    <a:effectLst/>
                    <a:ea typeface="Calibri" panose="020F0502020204030204" pitchFamily="34" charset="0"/>
                  </a:rPr>
                  <a:t>linear transform.</a:t>
                </a:r>
                <a:endParaRPr lang="en-GB" b="1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If the map has the property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𝐴𝑥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𝐴𝐴𝑥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or equivalently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then the operation is called a </a:t>
                </a:r>
                <a:r>
                  <a:rPr lang="en-US" b="1" dirty="0">
                    <a:effectLst/>
                    <a:ea typeface="Calibri" panose="020F0502020204030204" pitchFamily="34" charset="0"/>
                  </a:rPr>
                  <a:t>linear projection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; </a:t>
                </a:r>
              </a:p>
              <a:p>
                <a:pPr marL="800100" lvl="1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for example, projecting 3D points onto a plane; applying this transform to a set of vectors twice is the same as appl</a:t>
                </a:r>
                <a:r>
                  <a:rPr lang="en-US" altLang="zh-CN" dirty="0">
                    <a:effectLst/>
                    <a:ea typeface="Calibri" panose="020F0502020204030204" pitchFamily="34" charset="0"/>
                  </a:rPr>
                  <a:t>y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ing it once.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E1D042F-868F-834F-96EA-D677E5DCB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3"/>
                <a:stretch>
                  <a:fillRect l="-884" t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6F8C0FB-67C5-DE6A-801B-C50C9E6FEB2A}"/>
              </a:ext>
            </a:extLst>
          </p:cNvPr>
          <p:cNvSpPr txBox="1"/>
          <p:nvPr/>
        </p:nvSpPr>
        <p:spPr>
          <a:xfrm>
            <a:off x="1489786" y="5904941"/>
            <a:ext cx="905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effectLst/>
                <a:latin typeface="-apple-system"/>
              </a:rPr>
              <a:t>Matrices</a:t>
            </a:r>
            <a:r>
              <a:rPr lang="en-GB" sz="3200" b="0" i="0" dirty="0">
                <a:effectLst/>
                <a:latin typeface="-apple-system"/>
              </a:rPr>
              <a:t> represent </a:t>
            </a:r>
            <a:r>
              <a:rPr lang="en-GB" sz="3200" b="1" i="0" dirty="0">
                <a:effectLst/>
                <a:latin typeface="-apple-system"/>
              </a:rPr>
              <a:t>linear</a:t>
            </a:r>
            <a:r>
              <a:rPr lang="zh-CN" altLang="en-US" sz="3200" b="1" i="0" dirty="0">
                <a:effectLst/>
                <a:latin typeface="-apple-system"/>
              </a:rPr>
              <a:t> </a:t>
            </a:r>
            <a:r>
              <a:rPr lang="en-GB" sz="3200" b="1" i="0" dirty="0">
                <a:effectLst/>
                <a:latin typeface="-apple-system"/>
              </a:rPr>
              <a:t>maps</a:t>
            </a:r>
            <a:r>
              <a:rPr lang="en-GB" sz="3200" b="0" i="0" dirty="0">
                <a:effectLst/>
                <a:latin typeface="-apple-system"/>
              </a:rPr>
              <a:t> or</a:t>
            </a:r>
            <a:r>
              <a:rPr lang="en-GB" sz="3600" b="0" i="0" dirty="0">
                <a:effectLst/>
                <a:latin typeface="-apple-system"/>
              </a:rPr>
              <a:t> </a:t>
            </a:r>
            <a:r>
              <a:rPr lang="en-GB" sz="3200" b="1" i="0" dirty="0">
                <a:effectLst/>
                <a:latin typeface="-apple-system"/>
              </a:rPr>
              <a:t>linear functions</a:t>
            </a:r>
            <a:r>
              <a:rPr lang="en-GB" sz="3200" b="0" i="0" dirty="0">
                <a:effectLst/>
                <a:latin typeface="-apple-system"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7084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7D9B9D-0F61-0B94-8325-965464E9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intuition (cube -&gt; parallelepiped)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50C19-B86F-285F-0607-00245D6AE4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7128304" cy="46069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i="0" dirty="0">
                <a:effectLst/>
                <a:latin typeface="-apple-system"/>
              </a:rPr>
              <a:t>A</a:t>
            </a:r>
            <a:r>
              <a:rPr lang="en-GB" b="0" i="0" dirty="0">
                <a:effectLst/>
                <a:latin typeface="-apple-system"/>
              </a:rPr>
              <a:t> matrix to transform a </a:t>
            </a:r>
            <a:r>
              <a:rPr lang="en-GB" b="1" i="0" dirty="0">
                <a:effectLst/>
                <a:latin typeface="-apple-system"/>
              </a:rPr>
              <a:t>cube</a:t>
            </a:r>
            <a:r>
              <a:rPr lang="en-GB" b="0" i="0" dirty="0">
                <a:effectLst/>
                <a:latin typeface="-apple-system"/>
              </a:rPr>
              <a:t> of vector space </a:t>
            </a:r>
            <a:r>
              <a:rPr lang="en-GB" b="0" i="0" dirty="0" err="1">
                <a:effectLst/>
                <a:latin typeface="-apple-system"/>
              </a:rPr>
              <a:t>centered</a:t>
            </a:r>
            <a:r>
              <a:rPr lang="en-GB" b="0" i="0" dirty="0">
                <a:effectLst/>
                <a:latin typeface="-apple-system"/>
              </a:rPr>
              <a:t> on the origin in one space to a </a:t>
            </a:r>
            <a:r>
              <a:rPr lang="en-GB" b="1" i="0" dirty="0">
                <a:effectLst/>
                <a:latin typeface="-apple-system"/>
              </a:rPr>
              <a:t>parallelotope</a:t>
            </a:r>
            <a:r>
              <a:rPr lang="en-GB" b="0" i="0" dirty="0">
                <a:effectLst/>
                <a:latin typeface="-apple-system"/>
              </a:rPr>
              <a:t> in another space, with the origin staying fixed</a:t>
            </a:r>
            <a:r>
              <a:rPr lang="en-US" altLang="zh-CN" b="0" i="0" dirty="0">
                <a:effectLst/>
                <a:latin typeface="-apple-system"/>
              </a:rPr>
              <a:t>.</a:t>
            </a:r>
            <a:endParaRPr lang="en-GB" b="0" i="0" dirty="0">
              <a:effectLst/>
              <a:latin typeface="-apple-system"/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A </a:t>
            </a:r>
            <a:r>
              <a:rPr lang="en-GB" b="1" i="0" dirty="0">
                <a:effectLst/>
                <a:latin typeface="-apple-system"/>
              </a:rPr>
              <a:t>parallelotope</a:t>
            </a:r>
            <a:r>
              <a:rPr lang="en-GB" b="0" i="0" dirty="0">
                <a:effectLst/>
                <a:latin typeface="-apple-system"/>
              </a:rPr>
              <a:t> is the generalisation of a </a:t>
            </a:r>
            <a:r>
              <a:rPr lang="en-GB" b="1" i="0" dirty="0">
                <a:effectLst/>
                <a:latin typeface="-apple-system"/>
              </a:rPr>
              <a:t>parallelogram</a:t>
            </a:r>
          </a:p>
          <a:p>
            <a:pPr lvl="1"/>
            <a:r>
              <a:rPr lang="en-US" altLang="zh-CN" dirty="0">
                <a:latin typeface="-apple-system"/>
              </a:rPr>
              <a:t>A </a:t>
            </a:r>
            <a:r>
              <a:rPr lang="en-US" altLang="zh-CN" b="1" dirty="0">
                <a:latin typeface="-apple-system"/>
              </a:rPr>
              <a:t>parallelogram</a:t>
            </a:r>
            <a:r>
              <a:rPr lang="en-US" altLang="zh-CN" dirty="0">
                <a:latin typeface="-apple-system"/>
              </a:rPr>
              <a:t> is a </a:t>
            </a:r>
            <a:r>
              <a:rPr lang="en-US" altLang="zh-CN" b="1" dirty="0">
                <a:latin typeface="-apple-system"/>
              </a:rPr>
              <a:t>2-parallelotope</a:t>
            </a:r>
            <a:r>
              <a:rPr lang="en-US" altLang="zh-CN" dirty="0">
                <a:latin typeface="-apple-system"/>
              </a:rPr>
              <a:t> </a:t>
            </a:r>
          </a:p>
          <a:p>
            <a:pPr lvl="1"/>
            <a:r>
              <a:rPr lang="en-US" altLang="zh-CN" dirty="0">
                <a:latin typeface="-apple-system"/>
              </a:rPr>
              <a:t>A </a:t>
            </a:r>
            <a:r>
              <a:rPr lang="en-US" altLang="zh-CN" b="1" dirty="0">
                <a:latin typeface="-apple-system"/>
              </a:rPr>
              <a:t>parallelepiped</a:t>
            </a:r>
            <a:r>
              <a:rPr lang="en-US" altLang="zh-CN" dirty="0">
                <a:latin typeface="-apple-system"/>
              </a:rPr>
              <a:t> is a </a:t>
            </a:r>
            <a:r>
              <a:rPr lang="en-US" altLang="zh-CN" b="1" dirty="0">
                <a:latin typeface="-apple-system"/>
              </a:rPr>
              <a:t>3-parallelotope</a:t>
            </a:r>
          </a:p>
          <a:p>
            <a:pPr lvl="1"/>
            <a:r>
              <a:rPr lang="en-GB" b="0" i="0" dirty="0">
                <a:effectLst/>
                <a:latin typeface="-apple-system"/>
              </a:rPr>
              <a:t>Matrix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could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possibly</a:t>
            </a:r>
            <a:r>
              <a:rPr lang="en-GB" b="0" i="0" dirty="0">
                <a:effectLst/>
                <a:latin typeface="-apple-system"/>
              </a:rPr>
              <a:t> transform a </a:t>
            </a:r>
            <a:r>
              <a:rPr lang="en-GB" b="1" i="0" dirty="0">
                <a:effectLst/>
                <a:latin typeface="-apple-system"/>
              </a:rPr>
              <a:t>cube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1" i="0" dirty="0">
                <a:effectLst/>
                <a:latin typeface="-apple-system"/>
              </a:rPr>
              <a:t>(3D)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i="0" dirty="0">
                <a:effectLst/>
                <a:latin typeface="-apple-system"/>
              </a:rPr>
              <a:t>into</a:t>
            </a:r>
            <a:r>
              <a:rPr lang="zh-CN" altLang="en-US" i="0" dirty="0">
                <a:effectLst/>
                <a:latin typeface="-apple-system"/>
              </a:rPr>
              <a:t> </a:t>
            </a:r>
            <a:r>
              <a:rPr lang="en-US" altLang="zh-CN" i="0" dirty="0">
                <a:effectLst/>
                <a:latin typeface="-apple-system"/>
              </a:rPr>
              <a:t>a</a:t>
            </a:r>
            <a:r>
              <a:rPr lang="zh-CN" altLang="en-US" i="0" dirty="0">
                <a:effectLst/>
                <a:latin typeface="-apple-system"/>
              </a:rPr>
              <a:t> </a:t>
            </a:r>
            <a:r>
              <a:rPr lang="en-US" altLang="zh-CN" b="1" dirty="0">
                <a:latin typeface="-apple-system"/>
              </a:rPr>
              <a:t>2-parallelotope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BC9168-4D2C-3B39-2528-11A79D7B9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640" y="2127250"/>
            <a:ext cx="4394200" cy="360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ED5FAC-8C60-8E14-DDF8-EEDBFF890564}"/>
              </a:ext>
            </a:extLst>
          </p:cNvPr>
          <p:cNvSpPr txBox="1"/>
          <p:nvPr/>
        </p:nvSpPr>
        <p:spPr>
          <a:xfrm>
            <a:off x="10110915" y="1590159"/>
            <a:ext cx="1795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-apple-system"/>
              </a:rPr>
              <a:t>parallelotope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32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843E-3E30-6AD5-5143-79BB683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GB" altLang="zh-CN" dirty="0"/>
              <a:t>effect of linear transforms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linear transforms (linear maps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</a:rPr>
                  <a:t>:</a:t>
                </a:r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), on the 2D plane.</a:t>
                </a:r>
              </a:p>
              <a:p>
                <a:r>
                  <a:rPr lang="en-GB" b="0" i="0" dirty="0">
                    <a:effectLst/>
                    <a:latin typeface="-apple-system"/>
                  </a:rPr>
                  <a:t>We forms the product 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0" i="0" dirty="0">
                    <a:effectLst/>
                    <a:latin typeface="-apple-system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, which "applies" the matrix to the vector </a:t>
                </a:r>
                <a:r>
                  <a:rPr lang="en-US" altLang="zh-CN" b="0" i="0" dirty="0">
                    <a:effectLst/>
                    <a:latin typeface="MJXc-TeX-math-I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  <a:blipFill>
                <a:blip r:embed="rId2"/>
                <a:stretch>
                  <a:fillRect l="-1429" t="-1648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476662A-2435-1C59-228D-A4802DB2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221" y="1479550"/>
            <a:ext cx="5181600" cy="490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127B76-35C0-C10C-8CBA-30F78A3D1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959" y="3840936"/>
            <a:ext cx="1580070" cy="115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6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843E-3E30-6AD5-5143-79BB683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GB" altLang="zh-CN" dirty="0"/>
              <a:t>effect of linear transforms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linear transforms (linear maps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</a:rPr>
                  <a:t>:</a:t>
                </a:r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), on the 2D plane.</a:t>
                </a:r>
              </a:p>
              <a:p>
                <a:r>
                  <a:rPr lang="en-GB" b="0" i="0" dirty="0">
                    <a:effectLst/>
                    <a:latin typeface="-apple-system"/>
                  </a:rPr>
                  <a:t>We forms the product 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0" i="0" dirty="0">
                    <a:effectLst/>
                    <a:latin typeface="-apple-system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, which "applies" the matrix to the vector </a:t>
                </a:r>
                <a:r>
                  <a:rPr lang="en-US" altLang="zh-CN" b="0" i="0" dirty="0">
                    <a:effectLst/>
                    <a:latin typeface="MJXc-TeX-math-I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  <a:blipFill>
                <a:blip r:embed="rId2"/>
                <a:stretch>
                  <a:fillRect l="-1429" t="-1648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1E33ABB-C5C9-EE8C-E8A2-C95B12391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570" y="3982866"/>
            <a:ext cx="1704702" cy="836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BDB992-976B-D94D-1E49-FC2D914E5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752" y="1627188"/>
            <a:ext cx="4912498" cy="4605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1113B6-FCD3-309D-B73A-699BB8A0C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1217" y="2621005"/>
            <a:ext cx="17780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052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843E-3E30-6AD5-5143-79BB683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GB" altLang="zh-CN" dirty="0"/>
              <a:t>effect of linear transforms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linear transforms (linear maps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</a:rPr>
                  <a:t>:</a:t>
                </a:r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), on the 2D plane.</a:t>
                </a:r>
              </a:p>
              <a:p>
                <a:r>
                  <a:rPr lang="en-GB" b="0" i="0" dirty="0">
                    <a:effectLst/>
                    <a:latin typeface="-apple-system"/>
                  </a:rPr>
                  <a:t>We forms the product 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0" i="0" dirty="0">
                    <a:effectLst/>
                    <a:latin typeface="-apple-system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, which "applies" the matrix to the vector </a:t>
                </a:r>
                <a:r>
                  <a:rPr lang="en-US" altLang="zh-CN" b="0" i="0" dirty="0">
                    <a:effectLst/>
                    <a:latin typeface="MJXc-TeX-math-I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  <a:blipFill>
                <a:blip r:embed="rId2"/>
                <a:stretch>
                  <a:fillRect l="-1429" t="-1648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2CBB7AD-7AFD-CD6B-A92F-67C1832BD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459" y="3930650"/>
            <a:ext cx="2377588" cy="974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E7146-2420-C719-D98A-9E84D0475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717" y="2154165"/>
            <a:ext cx="4094377" cy="384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511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843E-3E30-6AD5-5143-79BB683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GB" altLang="zh-CN" dirty="0"/>
              <a:t>effect of linear transforms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linear transforms (linear maps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</a:rPr>
                  <a:t>:</a:t>
                </a:r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), on the 2D plane.</a:t>
                </a:r>
              </a:p>
              <a:p>
                <a:r>
                  <a:rPr lang="en-GB" b="0" i="0" dirty="0">
                    <a:effectLst/>
                    <a:latin typeface="-apple-system"/>
                  </a:rPr>
                  <a:t>We forms the product 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0" i="0" dirty="0">
                    <a:effectLst/>
                    <a:latin typeface="-apple-system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, which "applies" the matrix to the vector </a:t>
                </a:r>
                <a:r>
                  <a:rPr lang="en-US" altLang="zh-CN" b="0" i="0" dirty="0">
                    <a:effectLst/>
                    <a:latin typeface="MJXc-TeX-math-I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  <a:blipFill>
                <a:blip r:embed="rId3"/>
                <a:stretch>
                  <a:fillRect l="-1429" t="-1648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A4436B0-5AB0-8E5D-660C-442E13A7C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909" y="2255452"/>
            <a:ext cx="3822700" cy="363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DCCA4A-61D6-E0C6-E6C8-A4C44B377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160" y="3709258"/>
            <a:ext cx="1968726" cy="131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570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843E-3E30-6AD5-5143-79BB683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GB" altLang="zh-CN" dirty="0"/>
              <a:t>effect of linear transforms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linear transforms (linear maps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</a:rPr>
                  <a:t>:</a:t>
                </a:r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), on the 2D plane.</a:t>
                </a:r>
              </a:p>
              <a:p>
                <a:r>
                  <a:rPr lang="en-GB" b="0" i="0" dirty="0">
                    <a:effectLst/>
                    <a:latin typeface="-apple-system"/>
                  </a:rPr>
                  <a:t>We forms the product 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0" i="0" dirty="0">
                    <a:effectLst/>
                    <a:latin typeface="-apple-system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, which "applies" the matrix to the vector </a:t>
                </a:r>
                <a:r>
                  <a:rPr lang="en-US" altLang="zh-CN" b="0" i="0" dirty="0">
                    <a:effectLst/>
                    <a:latin typeface="MJXc-TeX-math-I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  <a:blipFill>
                <a:blip r:embed="rId3"/>
                <a:stretch>
                  <a:fillRect l="-1429" t="-1648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85C3A3C-358E-FA21-29E9-4A3E8B523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810" y="3753708"/>
            <a:ext cx="2805088" cy="1139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0E0131-BE0C-0912-D1EF-C3B82340C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69" y="2146300"/>
            <a:ext cx="36703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22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843E-3E30-6AD5-5143-79BB683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GB" altLang="zh-CN" dirty="0"/>
              <a:t>effect of linear transforms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</p:spPr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  <a:latin typeface="-apple-system"/>
                  </a:rPr>
                  <a:t>linear transforms (linear maps</a:t>
                </a:r>
                <a:r>
                  <a:rPr lang="zh-CN" altLang="en-US" b="0" i="0" dirty="0">
                    <a:effectLst/>
                    <a:latin typeface="-apple-syste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ffectLst/>
                  </a:rPr>
                  <a:t>:</a:t>
                </a:r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 </a:t>
                </a:r>
                <a:r>
                  <a:rPr lang="en-US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), on the 2D plane.</a:t>
                </a:r>
              </a:p>
              <a:p>
                <a:r>
                  <a:rPr lang="en-GB" b="0" i="0" dirty="0">
                    <a:effectLst/>
                    <a:latin typeface="-apple-system"/>
                  </a:rPr>
                  <a:t>We forms the product 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0" i="0" dirty="0">
                    <a:effectLst/>
                    <a:latin typeface="-apple-system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, which "applies" the matrix to the vector </a:t>
                </a:r>
                <a:r>
                  <a:rPr lang="en-US" altLang="zh-CN" b="0" i="0" dirty="0">
                    <a:effectLst/>
                    <a:latin typeface="MJXc-TeX-math-I"/>
                  </a:rPr>
                  <a:t>x</a:t>
                </a:r>
                <a:r>
                  <a:rPr lang="en-GB" b="0" i="0" dirty="0">
                    <a:effectLst/>
                    <a:latin typeface="-apple-system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0D370-337F-2B30-CE7F-DE300E120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85750" y="1627188"/>
                <a:ext cx="6210471" cy="4606925"/>
              </a:xfrm>
              <a:blipFill>
                <a:blip r:embed="rId3"/>
                <a:stretch>
                  <a:fillRect l="-1429" t="-1648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E74A225-46B7-1D1B-1A6E-04780DF99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47" y="3943006"/>
            <a:ext cx="3499399" cy="1123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0DC38-EFFF-7F92-0921-005642593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717" y="2435826"/>
            <a:ext cx="37338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025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F511-6A31-E23A-6C72-EE0F3A7D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12F8-2DF3-1943-B906-390EF648DF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latin typeface="-apple-system"/>
            </a:endParaRPr>
          </a:p>
          <a:p>
            <a:pPr marL="0" indent="0">
              <a:buNone/>
            </a:pPr>
            <a:r>
              <a:rPr lang="en-US" altLang="zh-CN" b="0" i="0" dirty="0">
                <a:effectLst/>
                <a:latin typeface="-apple-system"/>
              </a:rPr>
              <a:t>The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addition of matrices of </a:t>
            </a:r>
            <a:r>
              <a:rPr lang="en-GB" b="0" i="1" dirty="0">
                <a:effectLst/>
                <a:latin typeface="-apple-system"/>
              </a:rPr>
              <a:t>equal size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is simple elementwise addition</a:t>
            </a:r>
            <a:r>
              <a:rPr lang="en-US" altLang="zh-CN" b="0" i="0" dirty="0">
                <a:effectLst/>
                <a:latin typeface="-apple-system"/>
              </a:rPr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CD088-4DE3-E653-25C8-CE17E61F5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931" y="2835876"/>
            <a:ext cx="68199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614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F511-6A31-E23A-6C72-EE0F3A7D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12F8-2DF3-1943-B906-390EF648DF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0921828" cy="4606925"/>
          </a:xfrm>
        </p:spPr>
        <p:txBody>
          <a:bodyPr/>
          <a:lstStyle/>
          <a:p>
            <a:pPr marL="0" indent="0">
              <a:buNone/>
            </a:pPr>
            <a:endParaRPr lang="en-GB" dirty="0">
              <a:latin typeface="-apple-system"/>
            </a:endParaRPr>
          </a:p>
          <a:p>
            <a:pPr marL="0" indent="0">
              <a:buNone/>
            </a:pPr>
            <a:r>
              <a:rPr lang="en-US" altLang="zh-CN" b="0" i="0" dirty="0">
                <a:effectLst/>
                <a:latin typeface="-apple-system"/>
              </a:rPr>
              <a:t>The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scalar multiplication </a:t>
            </a:r>
            <a:r>
              <a:rPr lang="en-GB" b="0" i="0" dirty="0" err="1">
                <a:effectLst/>
                <a:latin typeface="MJXc-TeX-math-I"/>
              </a:rPr>
              <a:t>cA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is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to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multiply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each element by </a:t>
            </a:r>
            <a:r>
              <a:rPr lang="en-GB" b="0" i="0" dirty="0">
                <a:effectLst/>
                <a:latin typeface="MJXc-TeX-math-I"/>
              </a:rPr>
              <a:t>c</a:t>
            </a:r>
            <a:r>
              <a:rPr lang="en-GB" b="0" i="0" dirty="0">
                <a:effectLst/>
                <a:latin typeface="-apple-system"/>
              </a:rPr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021E4-FCBD-4439-AEE9-A8E611AA2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614" y="3287712"/>
            <a:ext cx="4610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625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CBB1-DE02-88BC-4A6D-887435D7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to vectors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9213A3-3958-928A-5E84-CB06749B221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0" i="0" dirty="0">
                    <a:effectLst/>
                  </a:rPr>
                  <a:t>We can apply a matrix to a vector</a:t>
                </a:r>
                <a:r>
                  <a:rPr lang="en-US" altLang="zh-CN" b="0" i="0" dirty="0">
                    <a:effectLst/>
                  </a:rPr>
                  <a:t>,</a:t>
                </a:r>
                <a:r>
                  <a:rPr lang="zh-CN" altLang="en-US" b="0" i="0" dirty="0">
                    <a:effectLst/>
                  </a:rPr>
                  <a:t> </a:t>
                </a:r>
                <a:r>
                  <a:rPr lang="en-GB" b="0" i="0" dirty="0">
                    <a:effectLst/>
                  </a:rPr>
                  <a:t>equivalent to applying the function f(x)</a:t>
                </a:r>
                <a:r>
                  <a:rPr lang="zh-CN" altLang="en-US" b="0" i="0" dirty="0">
                    <a:effectLst/>
                  </a:rPr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x.</a:t>
                </a:r>
              </a:p>
              <a:p>
                <a:endParaRPr lang="en-US" dirty="0"/>
              </a:p>
              <a:p>
                <a:endParaRPr lang="en-US" dirty="0">
                  <a:effectLst/>
                  <a:ea typeface="Calibri" panose="020F0502020204030204" pitchFamily="34" charset="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, then this will map from an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dimensional vector space to an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dimensional vector space</a:t>
                </a:r>
                <a:r>
                  <a:rPr lang="en-US" altLang="zh-CN" dirty="0">
                    <a:effectLst/>
                    <a:ea typeface="Calibri" panose="020F0502020204030204" pitchFamily="34" charset="0"/>
                  </a:rPr>
                  <a:t>:</a:t>
                </a:r>
                <a:r>
                  <a:rPr lang="zh-CN" altLang="en-US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.</a:t>
                </a:r>
              </a:p>
              <a:p>
                <a:endParaRPr lang="en-US" dirty="0">
                  <a:ea typeface="Calibri" panose="020F0502020204030204" pitchFamily="34" charset="0"/>
                </a:endParaRPr>
              </a:p>
              <a:p>
                <a:r>
                  <a:rPr lang="en-GB" b="1" i="0" dirty="0">
                    <a:effectLst/>
                  </a:rPr>
                  <a:t>All application of a matrix to a vector does is form a weighted sum of the elements of the vector</a:t>
                </a:r>
                <a:r>
                  <a:rPr lang="en-US" altLang="zh-CN" b="1" i="0" dirty="0">
                    <a:effectLst/>
                  </a:rPr>
                  <a:t>.</a:t>
                </a:r>
                <a:r>
                  <a:rPr lang="zh-CN" altLang="en-US" b="1" i="0" dirty="0">
                    <a:effectLst/>
                  </a:rPr>
                  <a:t> </a:t>
                </a:r>
                <a:r>
                  <a:rPr lang="en-GB" b="0" i="0" dirty="0">
                    <a:effectLst/>
                    <a:latin typeface="-apple-system"/>
                  </a:rPr>
                  <a:t>This is a linear combination (equivalent to a "weighted sum") of the components.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9213A3-3958-928A-5E84-CB06749B2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774" t="-1923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F2E8D28-6959-70BB-C583-0EA2EEA3A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523" y="1963180"/>
            <a:ext cx="2171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78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to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48FCC-0FD9-741D-B6D0-257DCD2ABE3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In particular, we take each element of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, multiply it with the corresponding column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, and sum these columns together.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=[0,0,0,…]=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n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-dimensional zero vector)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0000"/>
                  </a:lnSpc>
                  <a:spcAft>
                    <a:spcPts val="600"/>
                  </a:spcAft>
                  <a:buFont typeface="Symbol" pitchFamily="2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.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is scalar times vector, and has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elements.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here means the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ea typeface="Calibri" panose="020F0502020204030204" pitchFamily="34" charset="0"/>
                  </a:rPr>
                  <a:t>th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column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48FCC-0FD9-741D-B6D0-257DCD2ABE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5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8128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E014-529D-2086-9923-35ADAB05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D2A67-1DAD-EADD-4DFA-7451DBC38D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f(x)=Ax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0881C-6787-3AB9-4F46-F32021D52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2002996"/>
            <a:ext cx="39878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939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E014-529D-2086-9923-35ADAB05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D2A67-1DAD-EADD-4DFA-7451DBC38D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f(x)=Ax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GB" b="0" i="0" dirty="0">
                <a:solidFill>
                  <a:schemeClr val="tx1"/>
                </a:solidFill>
                <a:effectLst/>
                <a:latin typeface="Söhne"/>
              </a:rPr>
              <a:t>The traditional matrix multiplication approach (row-by-column)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0881C-6787-3AB9-4F46-F32021D52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075" y="1882902"/>
            <a:ext cx="3987800" cy="173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B5CA5-C4BC-FBEC-5348-547AE419B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016" y="4339927"/>
            <a:ext cx="68580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588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E014-529D-2086-9923-35ADAB05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D2A67-1DAD-EADD-4DFA-7451DBC38D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f(x)=Ax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0" i="0" dirty="0">
                <a:solidFill>
                  <a:schemeClr val="tx1"/>
                </a:solidFill>
                <a:effectLst/>
                <a:latin typeface="Söhne"/>
              </a:rPr>
              <a:t>An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Söhne"/>
              </a:rPr>
              <a:t>alterative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Söhne"/>
              </a:rPr>
              <a:t>way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Söhne"/>
              </a:rPr>
              <a:t>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A7CA3-AB89-D0D0-4988-D95637910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189" y="3885127"/>
            <a:ext cx="7772400" cy="2564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A2945-095C-9FF5-C126-FFF05D2E2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075" y="1689100"/>
            <a:ext cx="39878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834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F9B4-5696-BDDA-D616-220E46D1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to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BC2B-F437-A3C5-384D-66F2056A65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We can use @ to form products of vectors and matrices in </a:t>
            </a:r>
            <a:r>
              <a:rPr lang="en-GB" dirty="0" err="1"/>
              <a:t>Numpy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06ED8-5007-AD61-534A-738FAB324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304" y="2394808"/>
            <a:ext cx="5397500" cy="3378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6CE8AA-A025-8771-4962-0DAF7872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6" y="3213958"/>
            <a:ext cx="39878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1" i="0" dirty="0">
                <a:effectLst/>
              </a:rPr>
              <a:t>Matrix multiplication</a:t>
            </a:r>
            <a:r>
              <a:rPr lang="en-GB" b="0" i="0" dirty="0">
                <a:effectLst/>
              </a:rPr>
              <a:t> defines the product </a:t>
            </a:r>
            <a:r>
              <a:rPr lang="en-GB" b="1" i="1" dirty="0">
                <a:effectLst/>
              </a:rPr>
              <a:t>C</a:t>
            </a:r>
            <a:r>
              <a:rPr lang="en-GB" b="0" i="0" dirty="0">
                <a:effectLst/>
              </a:rPr>
              <a:t>=</a:t>
            </a:r>
            <a:r>
              <a:rPr lang="en-GB" b="1" i="1" dirty="0">
                <a:effectLst/>
              </a:rPr>
              <a:t>AB</a:t>
            </a:r>
            <a:r>
              <a:rPr lang="en-GB" b="0" i="0" dirty="0">
                <a:effectLst/>
              </a:rPr>
              <a:t>, where </a:t>
            </a:r>
            <a:r>
              <a:rPr lang="en-GB" b="1" i="1" dirty="0">
                <a:effectLst/>
              </a:rPr>
              <a:t>A,B,C</a:t>
            </a:r>
            <a:r>
              <a:rPr lang="en-GB" b="0" i="0" dirty="0">
                <a:effectLst/>
              </a:rPr>
              <a:t> are all matrices.</a:t>
            </a:r>
          </a:p>
          <a:p>
            <a:r>
              <a:rPr lang="en-GB" b="0" i="0" dirty="0">
                <a:effectLst/>
              </a:rPr>
              <a:t>Matrix multiplication is defined such that if </a:t>
            </a:r>
            <a:r>
              <a:rPr lang="en-GB" b="1" i="1" dirty="0">
                <a:effectLst/>
              </a:rPr>
              <a:t>A</a:t>
            </a:r>
            <a:r>
              <a:rPr lang="zh-CN" altLang="en-US" dirty="0"/>
              <a:t> </a:t>
            </a:r>
            <a:r>
              <a:rPr lang="en-GB" b="0" i="0" dirty="0">
                <a:effectLst/>
              </a:rPr>
              <a:t>represents linear transform </a:t>
            </a:r>
            <a:r>
              <a:rPr lang="en-GB" b="0" i="1" dirty="0">
                <a:effectLst/>
              </a:rPr>
              <a:t>f</a:t>
            </a:r>
            <a:r>
              <a:rPr lang="en-GB" b="0" i="0" dirty="0">
                <a:effectLst/>
              </a:rPr>
              <a:t>(</a:t>
            </a:r>
            <a:r>
              <a:rPr lang="en-GB" b="1" i="0" dirty="0">
                <a:effectLst/>
              </a:rPr>
              <a:t>x</a:t>
            </a:r>
            <a:r>
              <a:rPr lang="en-GB" b="0" i="0" dirty="0">
                <a:effectLst/>
              </a:rPr>
              <a:t>)  and </a:t>
            </a:r>
            <a:r>
              <a:rPr lang="en-GB" b="1" i="0" dirty="0">
                <a:effectLst/>
              </a:rPr>
              <a:t>B</a:t>
            </a:r>
            <a:r>
              <a:rPr lang="zh-CN" altLang="en-US" dirty="0"/>
              <a:t> </a:t>
            </a:r>
            <a:r>
              <a:rPr lang="en-GB" b="0" i="0" dirty="0">
                <a:effectLst/>
              </a:rPr>
              <a:t>represents linear transform </a:t>
            </a:r>
            <a:r>
              <a:rPr lang="en-GB" b="0" i="1" dirty="0">
                <a:effectLst/>
              </a:rPr>
              <a:t>g</a:t>
            </a:r>
            <a:r>
              <a:rPr lang="en-GB" b="0" i="0" dirty="0">
                <a:effectLst/>
              </a:rPr>
              <a:t>(</a:t>
            </a:r>
            <a:r>
              <a:rPr lang="en-GB" b="1" i="0" dirty="0">
                <a:effectLst/>
              </a:rPr>
              <a:t>x</a:t>
            </a:r>
            <a:r>
              <a:rPr lang="en-GB" b="0" i="0" dirty="0">
                <a:effectLst/>
              </a:rPr>
              <a:t>), then </a:t>
            </a:r>
            <a:r>
              <a:rPr lang="en-GB" b="1" i="1" dirty="0" err="1">
                <a:effectLst/>
              </a:rPr>
              <a:t>BA</a:t>
            </a:r>
            <a:r>
              <a:rPr lang="en-GB" b="1" i="0" dirty="0" err="1">
                <a:effectLst/>
              </a:rPr>
              <a:t>x</a:t>
            </a:r>
            <a:r>
              <a:rPr lang="en-GB" b="0" i="0" dirty="0">
                <a:effectLst/>
              </a:rPr>
              <a:t>=</a:t>
            </a:r>
            <a:r>
              <a:rPr lang="en-GB" i="1" dirty="0">
                <a:effectLst/>
              </a:rPr>
              <a:t>g</a:t>
            </a:r>
            <a:r>
              <a:rPr lang="en-GB" b="0" i="0" dirty="0">
                <a:effectLst/>
              </a:rPr>
              <a:t>(</a:t>
            </a:r>
            <a:r>
              <a:rPr lang="en-GB" b="0" i="1" dirty="0">
                <a:effectLst/>
              </a:rPr>
              <a:t>f</a:t>
            </a:r>
            <a:r>
              <a:rPr lang="en-GB" b="0" i="0" dirty="0">
                <a:effectLst/>
              </a:rPr>
              <a:t>(</a:t>
            </a:r>
            <a:r>
              <a:rPr lang="en-GB" b="1" i="0" dirty="0">
                <a:effectLst/>
              </a:rPr>
              <a:t>x</a:t>
            </a:r>
            <a:r>
              <a:rPr lang="en-GB" b="0" i="0" dirty="0">
                <a:effectLst/>
              </a:rPr>
              <a:t>))</a:t>
            </a:r>
          </a:p>
          <a:p>
            <a:pPr algn="l"/>
            <a:r>
              <a:rPr lang="en-GB" b="1" i="0" dirty="0">
                <a:effectLst/>
              </a:rPr>
              <a:t>Multiplying two matrices is equivalent to composing the linear functions they represent, and it results in a matrix which has that affect.</a:t>
            </a:r>
          </a:p>
          <a:p>
            <a:pPr algn="l"/>
            <a:endParaRPr lang="en-GB" b="1" dirty="0"/>
          </a:p>
          <a:p>
            <a:pPr algn="l"/>
            <a:endParaRPr lang="en-GB" b="1" i="0" dirty="0">
              <a:effectLst/>
            </a:endParaRPr>
          </a:p>
          <a:p>
            <a:pPr algn="l"/>
            <a:endParaRPr lang="en-GB" b="1" dirty="0"/>
          </a:p>
          <a:p>
            <a:pPr algn="l"/>
            <a:r>
              <a:rPr lang="en-GB" b="0" i="1" dirty="0">
                <a:effectLst/>
                <a:latin typeface="-apple-system"/>
              </a:rPr>
              <a:t>Note that the composition of linear maps is read right to left. To apply the transformation </a:t>
            </a:r>
            <a:r>
              <a:rPr lang="en-GB" b="1" i="1" dirty="0">
                <a:effectLst/>
                <a:latin typeface="MJXc-TeX-math-I"/>
              </a:rPr>
              <a:t>A</a:t>
            </a:r>
            <a:r>
              <a:rPr lang="en-GB" b="0" i="1" dirty="0">
                <a:effectLst/>
                <a:latin typeface="-apple-system"/>
              </a:rPr>
              <a:t>, </a:t>
            </a:r>
            <a:r>
              <a:rPr lang="en-GB" b="1" i="1" dirty="0">
                <a:effectLst/>
                <a:latin typeface="-apple-system"/>
              </a:rPr>
              <a:t>then</a:t>
            </a:r>
            <a:r>
              <a:rPr lang="en-GB" b="0" i="1" dirty="0">
                <a:effectLst/>
                <a:latin typeface="-apple-system"/>
              </a:rPr>
              <a:t> </a:t>
            </a:r>
            <a:r>
              <a:rPr lang="en-GB" b="1" i="1" dirty="0">
                <a:effectLst/>
                <a:latin typeface="MJXc-TeX-math-I"/>
              </a:rPr>
              <a:t>B</a:t>
            </a:r>
            <a:r>
              <a:rPr lang="en-GB" b="0" i="1" dirty="0">
                <a:effectLst/>
                <a:latin typeface="-apple-system"/>
              </a:rPr>
              <a:t>, we form the product </a:t>
            </a:r>
            <a:r>
              <a:rPr lang="en-GB" b="1" i="1" dirty="0">
                <a:effectLst/>
                <a:latin typeface="MJXc-TeX-math-I"/>
              </a:rPr>
              <a:t>BA</a:t>
            </a:r>
            <a:r>
              <a:rPr lang="en-GB" b="0" i="1" dirty="0">
                <a:effectLst/>
                <a:latin typeface="-apple-system"/>
              </a:rPr>
              <a:t>, and so on.</a:t>
            </a:r>
            <a:br>
              <a:rPr lang="en-GB" b="0" i="0" dirty="0">
                <a:effectLst/>
                <a:latin typeface="-apple-system"/>
              </a:rPr>
            </a:br>
            <a:endParaRPr lang="en-GB" b="0" i="0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926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algorithm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i="1" dirty="0">
                <a:effectLst/>
              </a:rPr>
              <a:t>If</a:t>
            </a:r>
            <a:r>
              <a:rPr lang="zh-CN" altLang="en-US" i="1" dirty="0">
                <a:effectLst/>
              </a:rPr>
              <a:t> </a:t>
            </a:r>
            <a:r>
              <a:rPr lang="en-GB" b="1" i="1" dirty="0">
                <a:effectLst/>
              </a:rPr>
              <a:t>C</a:t>
            </a:r>
            <a:r>
              <a:rPr lang="en-GB" b="1" i="0" dirty="0">
                <a:effectLst/>
              </a:rPr>
              <a:t>=</a:t>
            </a:r>
            <a:r>
              <a:rPr lang="en-GB" b="1" i="1" dirty="0">
                <a:effectLst/>
              </a:rPr>
              <a:t>AB</a:t>
            </a:r>
            <a:r>
              <a:rPr lang="zh-CN" altLang="en-US" b="1" i="1" dirty="0">
                <a:effectLst/>
              </a:rPr>
              <a:t> </a:t>
            </a:r>
            <a:r>
              <a:rPr lang="en-US" altLang="zh-CN" i="1" dirty="0">
                <a:effectLst/>
              </a:rPr>
              <a:t>then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GB" b="1" i="0" dirty="0">
                <a:effectLst/>
                <a:latin typeface="-apple-system"/>
              </a:rPr>
              <a:t>Multiplication</a:t>
            </a:r>
            <a:r>
              <a:rPr lang="en-GB" b="0" i="0" dirty="0">
                <a:effectLst/>
                <a:latin typeface="-apple-system"/>
              </a:rPr>
              <a:t> is </a:t>
            </a:r>
            <a:r>
              <a:rPr lang="en-GB" b="0" i="1" dirty="0">
                <a:effectLst/>
                <a:latin typeface="-apple-system"/>
              </a:rPr>
              <a:t>only</a:t>
            </a:r>
            <a:r>
              <a:rPr lang="en-GB" b="0" i="0" dirty="0">
                <a:effectLst/>
                <a:latin typeface="-apple-system"/>
              </a:rPr>
              <a:t> defined for two matrices </a:t>
            </a:r>
            <a:r>
              <a:rPr lang="en-GB" b="1" i="0" dirty="0">
                <a:effectLst/>
                <a:latin typeface="MJXc-TeX-math-I"/>
              </a:rPr>
              <a:t>A</a:t>
            </a:r>
            <a:r>
              <a:rPr lang="en-GB" b="1" i="0" dirty="0">
                <a:effectLst/>
                <a:latin typeface="MJXc-TeX-main-R"/>
              </a:rPr>
              <a:t>,</a:t>
            </a:r>
            <a:r>
              <a:rPr lang="en-GB" b="1" i="0" dirty="0">
                <a:effectLst/>
                <a:latin typeface="MJXc-TeX-math-I"/>
              </a:rPr>
              <a:t>B</a:t>
            </a:r>
            <a:r>
              <a:rPr lang="en-GB" b="0" i="0" dirty="0">
                <a:effectLst/>
                <a:latin typeface="-apple-system"/>
              </a:rPr>
              <a:t> if:</a:t>
            </a:r>
          </a:p>
          <a:p>
            <a:pPr lvl="1"/>
            <a:r>
              <a:rPr lang="en-GB" b="1" i="0" dirty="0">
                <a:effectLst/>
                <a:latin typeface="MJXc-TeX-math-I"/>
              </a:rPr>
              <a:t>A</a:t>
            </a:r>
            <a:r>
              <a:rPr lang="en-GB" b="0" i="0" dirty="0">
                <a:effectLst/>
                <a:latin typeface="-apple-system"/>
              </a:rPr>
              <a:t> is </a:t>
            </a:r>
            <a:r>
              <a:rPr lang="en-GB" b="0" i="0" dirty="0" err="1">
                <a:effectLst/>
                <a:latin typeface="MJXc-TeX-math-I"/>
              </a:rPr>
              <a:t>p</a:t>
            </a:r>
            <a:r>
              <a:rPr lang="en-GB" b="0" i="0" dirty="0" err="1">
                <a:effectLst/>
                <a:latin typeface="MJXc-TeX-main-R"/>
              </a:rPr>
              <a:t>×</a:t>
            </a:r>
            <a:r>
              <a:rPr lang="en-GB" b="0" i="1" dirty="0" err="1">
                <a:solidFill>
                  <a:srgbClr val="FF0000"/>
                </a:solidFill>
                <a:effectLst/>
                <a:latin typeface="MJXc-TeX-math-I"/>
              </a:rPr>
              <a:t>q</a:t>
            </a:r>
            <a:r>
              <a:rPr lang="en-GB" b="0" i="0" dirty="0">
                <a:effectLst/>
                <a:latin typeface="-apple-system"/>
              </a:rPr>
              <a:t> and</a:t>
            </a:r>
          </a:p>
          <a:p>
            <a:pPr lvl="1"/>
            <a:r>
              <a:rPr lang="en-GB" b="1" i="0" dirty="0">
                <a:effectLst/>
                <a:latin typeface="MJXc-TeX-math-I"/>
              </a:rPr>
              <a:t>B</a:t>
            </a:r>
            <a:r>
              <a:rPr lang="en-GB" b="0" i="0" dirty="0">
                <a:effectLst/>
                <a:latin typeface="-apple-system"/>
              </a:rPr>
              <a:t> is </a:t>
            </a:r>
            <a:r>
              <a:rPr lang="en-GB" b="0" i="1" dirty="0" err="1">
                <a:solidFill>
                  <a:srgbClr val="FF0000"/>
                </a:solidFill>
                <a:effectLst/>
                <a:latin typeface="MJXc-TeX-math-I"/>
              </a:rPr>
              <a:t>q</a:t>
            </a:r>
            <a:r>
              <a:rPr lang="en-GB" b="0" i="0" dirty="0" err="1">
                <a:effectLst/>
                <a:latin typeface="MJXc-TeX-main-R"/>
              </a:rPr>
              <a:t>×</a:t>
            </a:r>
            <a:r>
              <a:rPr lang="en-GB" b="0" i="0" dirty="0" err="1">
                <a:effectLst/>
                <a:latin typeface="MJXc-TeX-math-I"/>
              </a:rPr>
              <a:t>r</a:t>
            </a:r>
            <a:r>
              <a:rPr lang="en-GB" b="0" i="0" dirty="0">
                <a:effectLst/>
                <a:latin typeface="-apple-system"/>
              </a:rPr>
              <a:t>.</a:t>
            </a:r>
          </a:p>
          <a:p>
            <a:pPr lvl="1"/>
            <a:endParaRPr lang="en-US" i="1" dirty="0"/>
          </a:p>
          <a:p>
            <a:r>
              <a:rPr lang="en-US" altLang="zh-CN" b="0" i="0" dirty="0">
                <a:effectLst/>
                <a:latin typeface="-apple-system"/>
              </a:rPr>
              <a:t>This</a:t>
            </a:r>
            <a:r>
              <a:rPr lang="en-GB" b="0" i="0" dirty="0">
                <a:effectLst/>
                <a:latin typeface="-apple-system"/>
              </a:rPr>
              <a:t> gives rise to many important uses of matrices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for example, the product of a scaling matrix and a rotation matrix is a scale-and-rotate matrix. 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FDA4D-3FD4-7F71-5B3B-FE912D2FC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05" y="2284969"/>
            <a:ext cx="1888697" cy="65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086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algorithm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49" y="1627188"/>
            <a:ext cx="5694921" cy="4606925"/>
          </a:xfrm>
        </p:spPr>
        <p:txBody>
          <a:bodyPr/>
          <a:lstStyle/>
          <a:p>
            <a:r>
              <a:rPr lang="en-GB" b="0" i="0" dirty="0">
                <a:effectLst/>
              </a:rPr>
              <a:t>Matrix multiplication is of course built in to NumPy</a:t>
            </a:r>
            <a:endParaRPr lang="en-US" dirty="0"/>
          </a:p>
          <a:p>
            <a:endParaRPr lang="en-US" dirty="0"/>
          </a:p>
          <a:p>
            <a:r>
              <a:rPr lang="en-GB" b="0" i="0" dirty="0">
                <a:effectLst/>
              </a:rPr>
              <a:t>Matrix multiplication is applied by </a:t>
            </a:r>
            <a:r>
              <a:rPr lang="en-GB" dirty="0" err="1"/>
              <a:t>np.dot</a:t>
            </a:r>
            <a:r>
              <a:rPr lang="en-GB" dirty="0"/>
              <a:t>(</a:t>
            </a:r>
            <a:r>
              <a:rPr lang="en-GB" dirty="0" err="1"/>
              <a:t>a,b</a:t>
            </a:r>
            <a:r>
              <a:rPr lang="en-GB" dirty="0"/>
              <a:t>)</a:t>
            </a:r>
            <a:r>
              <a:rPr lang="en-GB" b="0" i="0" dirty="0">
                <a:effectLst/>
              </a:rPr>
              <a:t> or by the syntax </a:t>
            </a:r>
            <a:r>
              <a:rPr lang="en-GB" dirty="0"/>
              <a:t>a @ 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6E77E-64F4-2147-ABF2-28CC9252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627187"/>
            <a:ext cx="5587335" cy="426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960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of multiplication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</a:rPr>
              <a:t>Matrix multiplication has, in the general case, of time complexity O(</a:t>
            </a:r>
            <a:r>
              <a:rPr lang="en-GB" b="0" i="0" dirty="0" err="1">
                <a:effectLst/>
              </a:rPr>
              <a:t>pqr</a:t>
            </a:r>
            <a:r>
              <a:rPr lang="en-GB" b="0" i="0" dirty="0">
                <a:effectLst/>
              </a:rPr>
              <a:t>), or for multiplying two square matrices O(n</a:t>
            </a:r>
            <a:r>
              <a:rPr lang="en-GB" b="0" i="0" baseline="30000" dirty="0">
                <a:effectLst/>
              </a:rPr>
              <a:t>3</a:t>
            </a:r>
            <a:r>
              <a:rPr lang="en-GB" b="0" i="0" dirty="0">
                <a:effectLst/>
              </a:rPr>
              <a:t>).</a:t>
            </a:r>
          </a:p>
          <a:p>
            <a:r>
              <a:rPr lang="en-GB" b="0" i="0" dirty="0">
                <a:effectLst/>
              </a:rPr>
              <a:t>However, there are many special forms of matrices for which this complexity can be reduced, such as diagonal, triangular, sparse and banded matrices.</a:t>
            </a:r>
            <a:r>
              <a:rPr lang="zh-CN" altLang="en-US" b="0" i="0" dirty="0">
                <a:effectLst/>
              </a:rPr>
              <a:t> </a:t>
            </a:r>
            <a:r>
              <a:rPr lang="en-US" altLang="zh-CN" b="0" i="0" dirty="0">
                <a:effectLst/>
              </a:rPr>
              <a:t>(later)</a:t>
            </a:r>
          </a:p>
          <a:p>
            <a:r>
              <a:rPr lang="en-US" altLang="zh-CN" b="0" i="0" dirty="0">
                <a:effectLst/>
              </a:rPr>
              <a:t>There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are some accelerated algorithms for general multiplication. The time complexity of all of them is &gt;O(N</a:t>
            </a:r>
            <a:r>
              <a:rPr lang="en-GB" b="0" i="0" baseline="30000" dirty="0">
                <a:effectLst/>
              </a:rPr>
              <a:t>2</a:t>
            </a:r>
            <a:r>
              <a:rPr lang="en-US" altLang="zh-CN" b="0" i="0" dirty="0">
                <a:effectLst/>
              </a:rPr>
              <a:t>)</a:t>
            </a:r>
            <a:r>
              <a:rPr lang="zh-CN" altLang="en-US" b="0" i="0" dirty="0">
                <a:effectLst/>
              </a:rPr>
              <a:t> </a:t>
            </a:r>
            <a:r>
              <a:rPr lang="en-GB" b="0" i="0" dirty="0">
                <a:effectLst/>
              </a:rPr>
              <a:t>but &lt;O(N</a:t>
            </a:r>
            <a:r>
              <a:rPr lang="en-GB" b="0" i="0" baseline="30000" dirty="0">
                <a:effectLst/>
              </a:rPr>
              <a:t>3</a:t>
            </a:r>
            <a:r>
              <a:rPr lang="en-GB" b="0" i="0" dirty="0">
                <a:effectLst/>
              </a:rPr>
              <a:t>).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835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i="0" dirty="0">
                <a:effectLst/>
                <a:latin typeface="-apple-system"/>
              </a:rPr>
              <a:t>Transposition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5040012" cy="4606925"/>
          </a:xfrm>
        </p:spPr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The </a:t>
            </a:r>
            <a:r>
              <a:rPr lang="en-GB" b="1" i="0" dirty="0">
                <a:effectLst/>
                <a:latin typeface="-apple-system"/>
              </a:rPr>
              <a:t>transpose</a:t>
            </a:r>
            <a:r>
              <a:rPr lang="en-GB" b="0" i="0" dirty="0">
                <a:effectLst/>
                <a:latin typeface="-apple-system"/>
              </a:rPr>
              <a:t> of a matrix </a:t>
            </a:r>
            <a:r>
              <a:rPr lang="en-GB" b="0" i="0" dirty="0">
                <a:effectLst/>
                <a:latin typeface="MJXc-TeX-math-I"/>
              </a:rPr>
              <a:t>A</a:t>
            </a:r>
            <a:r>
              <a:rPr lang="en-GB" b="0" i="0" dirty="0">
                <a:effectLst/>
                <a:latin typeface="-apple-system"/>
              </a:rPr>
              <a:t> is written </a:t>
            </a:r>
            <a:r>
              <a:rPr lang="en-GB" b="0" i="0" dirty="0">
                <a:effectLst/>
                <a:latin typeface="MJXc-TeX-math-I"/>
              </a:rPr>
              <a:t>A</a:t>
            </a:r>
            <a:r>
              <a:rPr lang="en-GB" b="0" i="0" baseline="30000" dirty="0">
                <a:effectLst/>
                <a:latin typeface="MJXc-TeX-math-I"/>
              </a:rPr>
              <a:t>T</a:t>
            </a:r>
            <a:r>
              <a:rPr lang="en-GB" b="0" i="0" dirty="0">
                <a:effectLst/>
                <a:latin typeface="-apple-system"/>
              </a:rPr>
              <a:t> and has the same elements, but with the rows and columns exchanged.</a:t>
            </a:r>
          </a:p>
          <a:p>
            <a:r>
              <a:rPr lang="en-US" altLang="zh-CN" b="0" i="0" dirty="0">
                <a:effectLst/>
                <a:latin typeface="-apple-system"/>
              </a:rPr>
              <a:t>Two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ways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of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using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 err="1">
                <a:latin typeface="-apple-system"/>
              </a:rPr>
              <a:t>numpy</a:t>
            </a:r>
            <a:endParaRPr lang="en-US" altLang="zh-CN" dirty="0">
              <a:latin typeface="-apple-system"/>
            </a:endParaRPr>
          </a:p>
          <a:p>
            <a:pPr lvl="1"/>
            <a:r>
              <a:rPr lang="en-GB" b="0" i="0" dirty="0">
                <a:effectLst/>
                <a:latin typeface="-apple-system"/>
              </a:rPr>
              <a:t>A.T</a:t>
            </a:r>
          </a:p>
          <a:p>
            <a:pPr lvl="1"/>
            <a:r>
              <a:rPr lang="en-GB" b="0" i="0" dirty="0" err="1">
                <a:effectLst/>
                <a:latin typeface="-apple-system"/>
              </a:rPr>
              <a:t>np.transpose</a:t>
            </a:r>
            <a:r>
              <a:rPr lang="en-GB" b="0" i="0" dirty="0">
                <a:effectLst/>
                <a:latin typeface="-apple-system"/>
              </a:rPr>
              <a:t>(A)</a:t>
            </a:r>
          </a:p>
          <a:p>
            <a:pPr lvl="1"/>
            <a:endParaRPr lang="en-GB" b="0" i="0" dirty="0">
              <a:effectLst/>
              <a:latin typeface="-apple-syste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0E572-BCF2-23D9-4254-9FA44F5C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41" y="533614"/>
            <a:ext cx="5870642" cy="36862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479A1-622D-D86E-51B8-3AC12218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44" y="4711700"/>
            <a:ext cx="65532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83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Special</a:t>
            </a:r>
            <a:r>
              <a:rPr lang="zh-CN" altLang="en-US" dirty="0"/>
              <a:t> </a:t>
            </a:r>
            <a:r>
              <a:rPr lang="en-US" altLang="zh-CN" dirty="0"/>
              <a:t>m</a:t>
            </a:r>
            <a:r>
              <a:rPr lang="en-US" dirty="0"/>
              <a:t>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-apple-system"/>
              </a:rPr>
              <a:t>outer product</a:t>
            </a:r>
            <a:r>
              <a:rPr lang="en-US" altLang="zh-CN" b="1" i="0" dirty="0">
                <a:effectLst/>
                <a:latin typeface="-apple-system"/>
              </a:rPr>
              <a:t>: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the product of a Mx1 with a 1xN vector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which</a:t>
            </a:r>
            <a:r>
              <a:rPr lang="en-GB" b="0" i="0" dirty="0">
                <a:effectLst/>
                <a:latin typeface="-apple-system"/>
              </a:rPr>
              <a:t> is an </a:t>
            </a:r>
            <a:r>
              <a:rPr lang="en-GB" b="0" i="0" dirty="0">
                <a:effectLst/>
                <a:latin typeface="MJXc-TeX-math-I"/>
              </a:rPr>
              <a:t>M</a:t>
            </a:r>
            <a:r>
              <a:rPr lang="en-GB" b="0" i="0" dirty="0">
                <a:effectLst/>
                <a:latin typeface="MJXc-TeX-main-R"/>
              </a:rPr>
              <a:t>×</a:t>
            </a:r>
            <a:r>
              <a:rPr lang="en-GB" b="0" i="0" dirty="0">
                <a:effectLst/>
                <a:latin typeface="MJXc-TeX-math-I"/>
              </a:rPr>
              <a:t>N</a:t>
            </a:r>
            <a:r>
              <a:rPr lang="zh-CN" altLang="en-US" dirty="0">
                <a:latin typeface="-apple-system"/>
              </a:rPr>
              <a:t>  </a:t>
            </a:r>
            <a:r>
              <a:rPr lang="en-GB" b="0" i="0" dirty="0">
                <a:effectLst/>
                <a:latin typeface="-apple-system"/>
              </a:rPr>
              <a:t>matrix</a:t>
            </a: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inner product</a:t>
            </a:r>
            <a:r>
              <a:rPr lang="en-US" altLang="zh-CN" dirty="0">
                <a:latin typeface="-apple-system"/>
              </a:rPr>
              <a:t>: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the</a:t>
            </a:r>
            <a:r>
              <a:rPr lang="en-GB" b="0" i="0" dirty="0">
                <a:effectLst/>
                <a:latin typeface="-apple-system"/>
              </a:rPr>
              <a:t> product of a 1xN with an Nx1 vector is a 1x1 matrix</a:t>
            </a:r>
            <a:r>
              <a:rPr lang="en-US" altLang="zh-CN" b="0" i="0" dirty="0">
                <a:effectLst/>
                <a:latin typeface="-apple-system"/>
              </a:rPr>
              <a:t>,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which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is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a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scalar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81C03-7737-2A86-03F1-CAD4025DB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935" y="2266950"/>
            <a:ext cx="2246987" cy="834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523BF-6880-20B7-BAB3-5773014C4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41" y="4071100"/>
            <a:ext cx="2156959" cy="64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393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Matrix</a:t>
            </a:r>
            <a:r>
              <a:rPr lang="en-US" dirty="0"/>
              <a:t> multiplication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US" dirty="0"/>
              <a:t>omposed maps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0452272" cy="4606925"/>
          </a:xfrm>
        </p:spPr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We saw vectors as </a:t>
            </a:r>
            <a:r>
              <a:rPr lang="en-GB" b="1" i="0" dirty="0">
                <a:effectLst/>
                <a:latin typeface="-apple-system"/>
              </a:rPr>
              <a:t>points in space</a:t>
            </a:r>
            <a:r>
              <a:rPr lang="en-US" altLang="zh-CN" dirty="0">
                <a:latin typeface="-apple-system"/>
              </a:rPr>
              <a:t>,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and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matrices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as </a:t>
            </a:r>
            <a:r>
              <a:rPr lang="en-US" altLang="zh-CN" b="1" i="0" dirty="0">
                <a:effectLst/>
                <a:latin typeface="-apple-system"/>
              </a:rPr>
              <a:t>vector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1" i="0" dirty="0">
                <a:effectLst/>
                <a:latin typeface="-apple-system"/>
              </a:rPr>
              <a:t>transform</a:t>
            </a:r>
            <a:r>
              <a:rPr lang="en-GB" b="1" i="0" dirty="0">
                <a:effectLst/>
                <a:latin typeface="-apple-system"/>
              </a:rPr>
              <a:t> in space</a:t>
            </a:r>
            <a:r>
              <a:rPr lang="en-GB" b="0" i="0" dirty="0">
                <a:effectLst/>
                <a:latin typeface="-apple-system"/>
              </a:rPr>
              <a:t>. </a:t>
            </a:r>
          </a:p>
          <a:p>
            <a:endParaRPr lang="en-GB" b="1" i="0" dirty="0">
              <a:effectLst/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Multiplication is composition</a:t>
            </a:r>
            <a:r>
              <a:rPr lang="en-US" altLang="zh-CN" b="1" i="0" dirty="0">
                <a:effectLst/>
                <a:latin typeface="-apple-system"/>
              </a:rPr>
              <a:t>: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If </a:t>
            </a:r>
            <a:r>
              <a:rPr lang="en-GB" b="0" i="0" dirty="0">
                <a:effectLst/>
                <a:latin typeface="MJXc-TeX-math-I"/>
              </a:rPr>
              <a:t>A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represents </a:t>
            </a:r>
            <a:r>
              <a:rPr lang="en-GB" b="0" i="0" dirty="0">
                <a:effectLst/>
                <a:latin typeface="MJXc-TeX-math-I"/>
              </a:rPr>
              <a:t>f</a:t>
            </a:r>
            <a:r>
              <a:rPr lang="en-GB" b="0" i="0" dirty="0">
                <a:effectLst/>
                <a:latin typeface="MJXc-TeX-main-R"/>
              </a:rPr>
              <a:t>(</a:t>
            </a:r>
            <a:r>
              <a:rPr lang="en-GB" b="0" i="0" dirty="0">
                <a:effectLst/>
                <a:latin typeface="MJXc-TeX-math-I"/>
              </a:rPr>
              <a:t>x</a:t>
            </a:r>
            <a:r>
              <a:rPr lang="en-GB" b="0" i="0" dirty="0">
                <a:effectLst/>
                <a:latin typeface="MJXc-TeX-main-R"/>
              </a:rPr>
              <a:t>)</a:t>
            </a:r>
            <a:r>
              <a:rPr lang="en-GB" b="0" i="0" dirty="0">
                <a:effectLst/>
                <a:latin typeface="-apple-system"/>
              </a:rPr>
              <a:t>  and </a:t>
            </a:r>
            <a:r>
              <a:rPr lang="en-GB" b="0" i="0" dirty="0">
                <a:effectLst/>
                <a:latin typeface="MJXc-TeX-math-I"/>
              </a:rPr>
              <a:t>B</a:t>
            </a:r>
            <a:r>
              <a:rPr lang="en-GB" b="0" i="0" dirty="0">
                <a:effectLst/>
                <a:latin typeface="-apple-system"/>
              </a:rPr>
              <a:t> represents </a:t>
            </a:r>
            <a:r>
              <a:rPr lang="en-GB" b="0" i="0" dirty="0">
                <a:effectLst/>
                <a:latin typeface="MJXc-TeX-math-I"/>
              </a:rPr>
              <a:t>g</a:t>
            </a:r>
            <a:r>
              <a:rPr lang="en-GB" b="0" i="0" dirty="0">
                <a:effectLst/>
                <a:latin typeface="MJXc-TeX-main-R"/>
              </a:rPr>
              <a:t>(</a:t>
            </a:r>
            <a:r>
              <a:rPr lang="en-GB" b="0" i="0" dirty="0">
                <a:effectLst/>
                <a:latin typeface="MJXc-TeX-math-I"/>
              </a:rPr>
              <a:t>x</a:t>
            </a:r>
            <a:r>
              <a:rPr lang="en-GB" b="0" i="0" dirty="0">
                <a:effectLst/>
                <a:latin typeface="MJXc-TeX-main-R"/>
              </a:rPr>
              <a:t>)</a:t>
            </a:r>
            <a:r>
              <a:rPr lang="en-GB" b="0" i="0" dirty="0">
                <a:effectLst/>
                <a:latin typeface="-apple-system"/>
              </a:rPr>
              <a:t>, then the product </a:t>
            </a:r>
            <a:r>
              <a:rPr lang="en-GB" b="0" i="0" dirty="0">
                <a:effectLst/>
                <a:latin typeface="MJXc-TeX-math-I"/>
              </a:rPr>
              <a:t>BA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represents </a:t>
            </a:r>
            <a:r>
              <a:rPr lang="en-GB" b="0" i="0" dirty="0">
                <a:effectLst/>
                <a:latin typeface="MJXc-TeX-math-I"/>
              </a:rPr>
              <a:t>g</a:t>
            </a:r>
            <a:r>
              <a:rPr lang="en-GB" b="0" i="0" dirty="0">
                <a:effectLst/>
                <a:latin typeface="MJXc-TeX-main-R"/>
              </a:rPr>
              <a:t>(</a:t>
            </a:r>
            <a:r>
              <a:rPr lang="en-GB" b="0" i="0" dirty="0">
                <a:effectLst/>
                <a:latin typeface="MJXc-TeX-math-I"/>
              </a:rPr>
              <a:t>f</a:t>
            </a:r>
            <a:r>
              <a:rPr lang="en-GB" b="0" i="0" dirty="0">
                <a:effectLst/>
                <a:latin typeface="MJXc-TeX-main-R"/>
              </a:rPr>
              <a:t>(</a:t>
            </a:r>
            <a:r>
              <a:rPr lang="en-GB" b="0" i="0" dirty="0">
                <a:effectLst/>
                <a:latin typeface="MJXc-TeX-math-I"/>
              </a:rPr>
              <a:t>x</a:t>
            </a:r>
            <a:r>
              <a:rPr lang="en-GB" b="0" i="0" dirty="0">
                <a:effectLst/>
                <a:latin typeface="MJXc-TeX-main-R"/>
              </a:rPr>
              <a:t>))</a:t>
            </a:r>
            <a:r>
              <a:rPr lang="en-US" altLang="zh-CN" b="0" i="0" dirty="0">
                <a:effectLst/>
                <a:latin typeface="MJXc-TeX-main-R"/>
              </a:rPr>
              <a:t>.</a:t>
            </a:r>
          </a:p>
          <a:p>
            <a:endParaRPr lang="en-US" altLang="zh-CN" b="0" i="0" dirty="0">
              <a:effectLst/>
              <a:latin typeface="MJXc-TeX-main-R"/>
            </a:endParaRPr>
          </a:p>
          <a:p>
            <a:r>
              <a:rPr lang="en-GB" b="0" i="0" dirty="0" err="1">
                <a:effectLst/>
                <a:latin typeface="MJXc-TeX-math-I"/>
              </a:rPr>
              <a:t>BA</a:t>
            </a:r>
            <a:r>
              <a:rPr lang="en-GB" b="0" i="0" dirty="0" err="1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MJXc-TeX-main-R"/>
              </a:rPr>
              <a:t>=</a:t>
            </a:r>
            <a:r>
              <a:rPr lang="en-GB" b="0" i="0" dirty="0">
                <a:effectLst/>
                <a:latin typeface="MJXc-TeX-math-I"/>
              </a:rPr>
              <a:t>B</a:t>
            </a:r>
            <a:r>
              <a:rPr lang="en-GB" b="0" i="0" dirty="0">
                <a:effectLst/>
                <a:latin typeface="MJXc-TeX-main-R"/>
              </a:rPr>
              <a:t>(</a:t>
            </a:r>
            <a:r>
              <a:rPr lang="en-GB" b="0" i="0" dirty="0" err="1">
                <a:effectLst/>
                <a:latin typeface="MJXc-TeX-math-I"/>
              </a:rPr>
              <a:t>A</a:t>
            </a:r>
            <a:r>
              <a:rPr lang="en-GB" b="0" i="0" dirty="0" err="1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MJXc-TeX-main-R"/>
              </a:rPr>
              <a:t>)</a:t>
            </a:r>
            <a:r>
              <a:rPr lang="en-GB" b="0" i="0" dirty="0">
                <a:effectLst/>
                <a:latin typeface="-apple-system"/>
              </a:rPr>
              <a:t>  means do </a:t>
            </a:r>
            <a:r>
              <a:rPr lang="en-GB" b="0" i="0" dirty="0">
                <a:effectLst/>
                <a:latin typeface="MJXc-TeX-math-I"/>
              </a:rPr>
              <a:t>A</a:t>
            </a:r>
            <a:r>
              <a:rPr lang="en-GB" b="0" i="0" dirty="0">
                <a:effectLst/>
                <a:latin typeface="-apple-system"/>
              </a:rPr>
              <a:t> to </a:t>
            </a:r>
            <a:r>
              <a:rPr lang="en-GB" b="0" i="0" dirty="0">
                <a:effectLst/>
                <a:latin typeface="MJXc-TeX-main-B"/>
              </a:rPr>
              <a:t>x</a:t>
            </a:r>
            <a:r>
              <a:rPr lang="en-GB" b="0" i="0" dirty="0">
                <a:effectLst/>
                <a:latin typeface="-apple-system"/>
              </a:rPr>
              <a:t>, then do </a:t>
            </a:r>
            <a:r>
              <a:rPr lang="en-GB" b="0" i="0" dirty="0">
                <a:effectLst/>
                <a:latin typeface="MJXc-TeX-math-I"/>
              </a:rPr>
              <a:t>B</a:t>
            </a:r>
            <a:r>
              <a:rPr lang="en-GB" b="0" i="0" dirty="0">
                <a:effectLst/>
                <a:latin typeface="-apple-system"/>
              </a:rPr>
              <a:t> to the </a:t>
            </a:r>
            <a:r>
              <a:rPr lang="en-US" altLang="zh-CN" b="0" i="0" dirty="0">
                <a:effectLst/>
                <a:latin typeface="-apple-system"/>
              </a:rPr>
              <a:t>result</a:t>
            </a:r>
            <a:endParaRPr lang="en-US" altLang="zh-CN" b="0" i="0" dirty="0">
              <a:effectLst/>
              <a:latin typeface="MJXc-TeX-main-R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379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nonuniform scaling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552E0-1271-CE9E-624A-A87FF10F2A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rotation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maps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CB8C2-F5D7-3D75-5974-2B4F151F9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0" y="2311930"/>
            <a:ext cx="4013200" cy="405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23B18-924B-AFB8-1F38-215577A8F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11930"/>
            <a:ext cx="41529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432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maps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Nonuniform scaling matrix: </a:t>
            </a:r>
            <a:r>
              <a:rPr lang="en-US" dirty="0" err="1"/>
              <a:t>scale_x</a:t>
            </a:r>
            <a:endParaRPr lang="en-US" dirty="0"/>
          </a:p>
          <a:p>
            <a:r>
              <a:rPr lang="en-US" dirty="0"/>
              <a:t>Rotation matrix: rot30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63B7B-17EC-0344-4DD4-80EFD1F8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17" y="1627188"/>
            <a:ext cx="4318000" cy="452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F82DD4-013A-3DEF-CA8C-4A921AD25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957513"/>
            <a:ext cx="5916896" cy="28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853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maps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Nonuniform scaling matrix: </a:t>
            </a:r>
            <a:r>
              <a:rPr lang="en-US" dirty="0" err="1"/>
              <a:t>scale_x</a:t>
            </a:r>
            <a:endParaRPr lang="en-US" dirty="0"/>
          </a:p>
          <a:p>
            <a:r>
              <a:rPr lang="en-US" dirty="0"/>
              <a:t>Rotation matrix: rot30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98A13-4C1F-11A8-1F01-B95382214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539" y="1734409"/>
            <a:ext cx="4305300" cy="467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41DF9B-8082-88CB-1760-42C651071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78" y="3028222"/>
            <a:ext cx="62992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965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Concatenation of transforms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Many software operations take advantage of the definition of matrix multiplication as the composition of linear maps.</a:t>
            </a:r>
          </a:p>
          <a:p>
            <a:pPr algn="l"/>
            <a:r>
              <a:rPr lang="en-GB" b="0" i="0" dirty="0">
                <a:effectLst/>
                <a:latin typeface="-apple-system"/>
              </a:rPr>
              <a:t>In a graphics processing pipeline, for example, all of the operations to position, scale and orient visible objects are represented as matrix transforms. </a:t>
            </a:r>
          </a:p>
          <a:p>
            <a:pPr algn="l"/>
            <a:r>
              <a:rPr lang="en-GB" b="0" i="0" dirty="0">
                <a:effectLst/>
                <a:latin typeface="-apple-system"/>
              </a:rPr>
              <a:t>Multiple operations can be combined into </a:t>
            </a:r>
            <a:r>
              <a:rPr lang="en-GB" b="0" i="1" dirty="0">
                <a:effectLst/>
                <a:latin typeface="-apple-system"/>
              </a:rPr>
              <a:t>one single matrix operation</a:t>
            </a:r>
            <a:r>
              <a:rPr lang="en-GB" b="0" i="0" dirty="0">
                <a:effectLst/>
                <a:latin typeface="-apple-system"/>
              </a:rPr>
              <a:t>.</a:t>
            </a:r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1107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Commutativity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GB" altLang="zh-CN" dirty="0"/>
              <a:t>Transpose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-apple-system"/>
              </a:rPr>
              <a:t>The order of multiplication is important. </a:t>
            </a:r>
          </a:p>
          <a:p>
            <a:endParaRPr lang="en-GB" dirty="0"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Matrix multiplication does </a:t>
            </a:r>
            <a:r>
              <a:rPr lang="en-GB" b="1" i="0" dirty="0">
                <a:effectLst/>
                <a:latin typeface="-apple-system"/>
              </a:rPr>
              <a:t>not</a:t>
            </a:r>
            <a:r>
              <a:rPr lang="en-GB" b="0" i="0" dirty="0">
                <a:effectLst/>
                <a:latin typeface="-apple-system"/>
              </a:rPr>
              <a:t> commute</a:t>
            </a: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r>
              <a:rPr lang="en-GB" dirty="0">
                <a:latin typeface="-apple-system"/>
              </a:rPr>
              <a:t>Transpose order switching</a:t>
            </a: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It is also true that</a:t>
            </a:r>
            <a:br>
              <a:rPr lang="en-GB" b="0" i="0" dirty="0">
                <a:effectLst/>
                <a:latin typeface="-apple-system"/>
              </a:rPr>
            </a:br>
            <a:endParaRPr lang="en-GB" dirty="0">
              <a:latin typeface="-apple-syste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C7C42-69FA-7182-E53D-AF66ED9BB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141" y="2998229"/>
            <a:ext cx="1964037" cy="661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A92FB6-D2B0-9484-A9AD-D392D90F9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954" y="4532953"/>
            <a:ext cx="2954442" cy="661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C7DE09-8A43-4AB0-9C91-2E3211E24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490" y="5883147"/>
            <a:ext cx="3527370" cy="61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43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example matrix for measuring spread: covariance matrices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-apple-system"/>
              </a:rPr>
              <a:t>mean vector</a:t>
            </a:r>
            <a:r>
              <a:rPr lang="en-US" altLang="zh-CN" dirty="0">
                <a:latin typeface="-apple-system"/>
              </a:rPr>
              <a:t>:</a:t>
            </a:r>
            <a:r>
              <a:rPr lang="zh-CN" altLang="en-US" dirty="0"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the </a:t>
            </a:r>
            <a:r>
              <a:rPr lang="en-GB" b="1" i="0" dirty="0">
                <a:effectLst/>
                <a:latin typeface="-apple-system"/>
              </a:rPr>
              <a:t>geometric centroid</a:t>
            </a:r>
            <a:r>
              <a:rPr lang="en-GB" b="0" i="0" dirty="0">
                <a:effectLst/>
                <a:latin typeface="-apple-system"/>
              </a:rPr>
              <a:t> of a set of vectors</a:t>
            </a:r>
          </a:p>
          <a:p>
            <a:endParaRPr lang="en-GB" dirty="0"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variance</a:t>
            </a:r>
            <a:r>
              <a:rPr lang="en-US" altLang="zh-CN" b="1" i="0" dirty="0">
                <a:effectLst/>
                <a:latin typeface="-apple-system"/>
              </a:rPr>
              <a:t>: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GB" b="0" i="0" dirty="0">
                <a:effectLst/>
                <a:latin typeface="-apple-system"/>
              </a:rPr>
              <a:t>measures the spread of a dataset</a:t>
            </a: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r>
              <a:rPr lang="en-GB" b="0" i="0" dirty="0">
                <a:effectLst/>
                <a:latin typeface="-apple-system"/>
              </a:rPr>
              <a:t>In the multidimensional case</a:t>
            </a:r>
            <a:r>
              <a:rPr lang="en-US" altLang="zh-CN" b="0" i="0" dirty="0">
                <a:effectLst/>
                <a:latin typeface="-apple-system"/>
              </a:rPr>
              <a:t>: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GB" b="1" i="1" dirty="0">
                <a:effectLst/>
                <a:latin typeface="-apple-system"/>
              </a:rPr>
              <a:t>covariance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B3473-3D96-8F9D-41D1-AB0C60F08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409" y="3130550"/>
            <a:ext cx="2578100" cy="800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96AFAF-3DE8-7269-6C52-9862DB957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446" y="4704963"/>
            <a:ext cx="4693394" cy="105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12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500</a:t>
            </a:r>
            <a:r>
              <a:rPr lang="en-GB" altLang="zh-CN" dirty="0"/>
              <a:t>x</a:t>
            </a:r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48FCA-3523-C171-EE0C-626D2F33E3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GB" altLang="zh-CN" dirty="0"/>
              <a:t>covariance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i="1" dirty="0" err="1"/>
              <a:t>np.cov</a:t>
            </a:r>
            <a:r>
              <a:rPr lang="en-US" altLang="zh-CN" i="1" dirty="0"/>
              <a:t>()</a:t>
            </a:r>
          </a:p>
          <a:p>
            <a:endParaRPr lang="en-US" altLang="zh-CN" i="1" dirty="0"/>
          </a:p>
          <a:p>
            <a:endParaRPr lang="en-US" altLang="zh-CN" i="1" dirty="0"/>
          </a:p>
          <a:p>
            <a:endParaRPr lang="en-US" altLang="zh-CN" i="1" dirty="0"/>
          </a:p>
          <a:p>
            <a:endParaRPr lang="en-US" altLang="zh-CN" i="1" dirty="0"/>
          </a:p>
          <a:p>
            <a:endParaRPr lang="en-US" altLang="zh-CN" i="1" dirty="0"/>
          </a:p>
          <a:p>
            <a:endParaRPr lang="en-US" altLang="zh-CN" i="1" dirty="0"/>
          </a:p>
          <a:p>
            <a:endParaRPr lang="en-US" altLang="zh-CN" i="1" dirty="0"/>
          </a:p>
          <a:p>
            <a:endParaRPr lang="en-US" altLang="zh-CN" i="1" dirty="0"/>
          </a:p>
          <a:p>
            <a:r>
              <a:rPr lang="en-US" altLang="zh-CN" i="1" dirty="0"/>
              <a:t>5</a:t>
            </a:r>
            <a:r>
              <a:rPr lang="en-GB" altLang="zh-CN" i="1" dirty="0"/>
              <a:t>x</a:t>
            </a:r>
            <a:r>
              <a:rPr lang="en-US" altLang="zh-CN" i="1" dirty="0"/>
              <a:t>5</a:t>
            </a:r>
            <a:r>
              <a:rPr lang="zh-CN" altLang="en-US" i="1" dirty="0"/>
              <a:t> </a:t>
            </a:r>
            <a:r>
              <a:rPr lang="en-US" altLang="zh-CN" i="1" dirty="0"/>
              <a:t>matrix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example matrix for measuring spread: covariance matrices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CAC52-FD1C-F270-A849-55536E48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5" y="2404533"/>
            <a:ext cx="5651500" cy="284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DF2279-BEE0-5814-C221-F3BBFD29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2404533"/>
            <a:ext cx="56642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611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 ellipses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6176834" cy="4606925"/>
          </a:xfrm>
        </p:spPr>
        <p:txBody>
          <a:bodyPr/>
          <a:lstStyle/>
          <a:p>
            <a:r>
              <a:rPr lang="en-US" altLang="zh-CN" dirty="0"/>
              <a:t>For a</a:t>
            </a:r>
            <a:r>
              <a:rPr lang="zh-CN" altLang="en-US" dirty="0"/>
              <a:t>  </a:t>
            </a:r>
            <a:r>
              <a:rPr lang="en-US" altLang="zh-CN" dirty="0"/>
              <a:t>2-D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</a:p>
          <a:p>
            <a:pPr lvl="1"/>
            <a:r>
              <a:rPr lang="en-GB" b="1" i="0" dirty="0">
                <a:effectLst/>
                <a:latin typeface="-apple-system"/>
              </a:rPr>
              <a:t>mean vector</a:t>
            </a:r>
            <a:r>
              <a:rPr lang="en-US" altLang="zh-CN" b="1" i="0" dirty="0">
                <a:effectLst/>
                <a:latin typeface="-apple-system"/>
              </a:rPr>
              <a:t>: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1" dirty="0">
                <a:latin typeface="-apple-system"/>
              </a:rPr>
              <a:t>1</a:t>
            </a:r>
            <a:r>
              <a:rPr lang="en-GB" altLang="zh-CN" b="1" dirty="0">
                <a:latin typeface="-apple-system"/>
              </a:rPr>
              <a:t>x</a:t>
            </a:r>
            <a:r>
              <a:rPr lang="en-US" altLang="zh-CN" b="1" dirty="0">
                <a:latin typeface="-apple-system"/>
              </a:rPr>
              <a:t>2</a:t>
            </a:r>
          </a:p>
          <a:p>
            <a:pPr lvl="1"/>
            <a:r>
              <a:rPr lang="en-US" altLang="zh-CN" b="1" dirty="0">
                <a:latin typeface="-apple-system"/>
              </a:rPr>
              <a:t>Covariance</a:t>
            </a:r>
            <a:r>
              <a:rPr lang="zh-CN" altLang="en-US" b="1" dirty="0">
                <a:latin typeface="-apple-system"/>
              </a:rPr>
              <a:t> </a:t>
            </a:r>
            <a:r>
              <a:rPr lang="en-US" altLang="zh-CN" b="1" dirty="0">
                <a:latin typeface="-apple-system"/>
              </a:rPr>
              <a:t>matrix:</a:t>
            </a:r>
            <a:r>
              <a:rPr lang="zh-CN" altLang="en-US" b="1" dirty="0">
                <a:latin typeface="-apple-system"/>
              </a:rPr>
              <a:t> </a:t>
            </a:r>
            <a:r>
              <a:rPr lang="en-US" altLang="zh-CN" b="1" dirty="0">
                <a:latin typeface="-apple-system"/>
              </a:rPr>
              <a:t>2</a:t>
            </a:r>
            <a:r>
              <a:rPr lang="en-GB" altLang="zh-CN" b="1" dirty="0">
                <a:latin typeface="-apple-system"/>
              </a:rPr>
              <a:t>x</a:t>
            </a:r>
            <a:r>
              <a:rPr lang="en-US" altLang="zh-CN" b="1" dirty="0">
                <a:latin typeface="-apple-system"/>
              </a:rPr>
              <a:t>2</a:t>
            </a:r>
          </a:p>
          <a:p>
            <a:pPr marL="457200" lvl="1" indent="0">
              <a:buNone/>
            </a:pPr>
            <a:endParaRPr lang="en-US" altLang="zh-CN" b="1" dirty="0">
              <a:latin typeface="-apple-system"/>
            </a:endParaRPr>
          </a:p>
          <a:p>
            <a:pPr lvl="1"/>
            <a:r>
              <a:rPr lang="en-US" altLang="zh-CN" dirty="0">
                <a:latin typeface="-apple-system"/>
              </a:rPr>
              <a:t>The mean vector captures the idea of "</a:t>
            </a:r>
            <a:r>
              <a:rPr lang="en-US" altLang="zh-CN" dirty="0" err="1">
                <a:latin typeface="-apple-system"/>
              </a:rPr>
              <a:t>centre</a:t>
            </a:r>
            <a:r>
              <a:rPr lang="en-US" altLang="zh-CN" dirty="0">
                <a:latin typeface="-apple-system"/>
              </a:rPr>
              <a:t>" </a:t>
            </a:r>
          </a:p>
          <a:p>
            <a:pPr lvl="1"/>
            <a:r>
              <a:rPr lang="en-US" altLang="zh-CN" dirty="0">
                <a:latin typeface="-apple-system"/>
              </a:rPr>
              <a:t>The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covariance matrix captures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the "spread" of a collection of points in a vector space.</a:t>
            </a:r>
          </a:p>
          <a:p>
            <a:pPr marL="457200" lvl="1" indent="0">
              <a:buNone/>
            </a:pPr>
            <a:br>
              <a:rPr lang="en-US" altLang="zh-CN" b="1" dirty="0">
                <a:latin typeface="-apple-system"/>
              </a:rPr>
            </a:b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C462F-FAEC-AF6B-D79D-F1F3CD51F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810" y="1715187"/>
            <a:ext cx="4399460" cy="417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747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8FCC-0FD9-741D-B6D0-257DCD2ABE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b="1" dirty="0">
                <a:latin typeface="-apple-system"/>
              </a:rPr>
              <a:t>D</a:t>
            </a:r>
            <a:r>
              <a:rPr lang="en-GB" b="1" i="0" dirty="0" err="1">
                <a:effectLst/>
                <a:latin typeface="-apple-system"/>
              </a:rPr>
              <a:t>iagonal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US" altLang="zh-CN" b="0" i="0" dirty="0">
                <a:effectLst/>
                <a:latin typeface="-apple-system"/>
              </a:rPr>
              <a:t>matrix</a:t>
            </a:r>
          </a:p>
          <a:p>
            <a:pPr lvl="1"/>
            <a:r>
              <a:rPr lang="en-GB" b="0" i="0" dirty="0" err="1">
                <a:effectLst/>
                <a:latin typeface="Menlo" panose="020B0609030804020204" pitchFamily="49" charset="0"/>
              </a:rPr>
              <a:t>np.diag</a:t>
            </a:r>
            <a:r>
              <a:rPr lang="en-GB" b="0" i="0" dirty="0">
                <a:effectLst/>
                <a:latin typeface="Menlo" panose="020B0609030804020204" pitchFamily="49" charset="0"/>
              </a:rPr>
              <a:t>(x)</a:t>
            </a:r>
            <a:endParaRPr lang="en-GB" b="0" i="0" dirty="0">
              <a:effectLst/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endParaRPr lang="en-GB" dirty="0"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Identity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matrix</a:t>
            </a:r>
            <a:endParaRPr lang="en-GB" b="1" i="0" dirty="0">
              <a:effectLst/>
              <a:latin typeface="-apple-system"/>
            </a:endParaRPr>
          </a:p>
          <a:p>
            <a:pPr lvl="1"/>
            <a:r>
              <a:rPr lang="en-GB" b="0" i="0" dirty="0" err="1">
                <a:effectLst/>
                <a:latin typeface="Menlo" panose="020B0609030804020204" pitchFamily="49" charset="0"/>
              </a:rPr>
              <a:t>np.eye</a:t>
            </a:r>
            <a:r>
              <a:rPr lang="en-GB" b="0" i="0" dirty="0">
                <a:effectLst/>
                <a:latin typeface="Menlo" panose="020B0609030804020204" pitchFamily="49" charset="0"/>
              </a:rPr>
              <a:t>(n)</a:t>
            </a:r>
            <a:endParaRPr lang="en-GB" b="1" i="0" dirty="0">
              <a:effectLst/>
              <a:latin typeface="-apple-system"/>
            </a:endParaRPr>
          </a:p>
          <a:p>
            <a:endParaRPr lang="en-US" dirty="0"/>
          </a:p>
          <a:p>
            <a:r>
              <a:rPr lang="en-GB" b="1" i="0" dirty="0">
                <a:effectLst/>
                <a:latin typeface="-apple-system"/>
              </a:rPr>
              <a:t>Zero</a:t>
            </a:r>
            <a:r>
              <a:rPr lang="zh-CN" altLang="en-US" b="1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matrix</a:t>
            </a:r>
            <a:endParaRPr lang="en-GB" b="1" i="0" dirty="0">
              <a:effectLst/>
              <a:latin typeface="-apple-system"/>
            </a:endParaRPr>
          </a:p>
          <a:p>
            <a:pPr lvl="1"/>
            <a:r>
              <a:rPr lang="en-GB" dirty="0" err="1">
                <a:effectLst/>
              </a:rPr>
              <a:t>np</a:t>
            </a:r>
            <a:r>
              <a:rPr lang="en-GB" b="1" dirty="0" err="1">
                <a:effectLst/>
              </a:rPr>
              <a:t>.</a:t>
            </a:r>
            <a:r>
              <a:rPr lang="en-GB" dirty="0" err="1">
                <a:effectLst/>
              </a:rPr>
              <a:t>zeros</a:t>
            </a:r>
            <a:r>
              <a:rPr lang="en-US" altLang="zh-CN" dirty="0">
                <a:latin typeface="-apple-system"/>
              </a:rPr>
              <a:t>()</a:t>
            </a:r>
            <a:endParaRPr lang="en-GB" i="0" dirty="0"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2C1246-DDA5-F7EF-3B89-1951758193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-apple-system"/>
              </a:rPr>
              <a:t>Upper triangular</a:t>
            </a:r>
          </a:p>
          <a:p>
            <a:endParaRPr lang="en-GB" b="1" dirty="0">
              <a:latin typeface="-apple-system"/>
            </a:endParaRPr>
          </a:p>
          <a:p>
            <a:endParaRPr lang="en-GB" b="1" i="0" dirty="0">
              <a:effectLst/>
              <a:latin typeface="-apple-system"/>
            </a:endParaRPr>
          </a:p>
          <a:p>
            <a:endParaRPr lang="en-GB" b="1" dirty="0">
              <a:latin typeface="-apple-system"/>
            </a:endParaRPr>
          </a:p>
          <a:p>
            <a:r>
              <a:rPr lang="en-GB" b="1" i="0" dirty="0">
                <a:effectLst/>
                <a:latin typeface="-apple-system"/>
              </a:rPr>
              <a:t>Lower triangular</a:t>
            </a:r>
            <a:br>
              <a:rPr lang="en-GB" b="0" i="0" dirty="0">
                <a:effectLst/>
                <a:latin typeface="-apple-system"/>
              </a:rPr>
            </a:br>
            <a:br>
              <a:rPr lang="en-GB" b="0" i="0" dirty="0"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E148C-47A8-4C34-4403-6101149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matrix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7B873-7444-E4E1-E818-E1FEC7A9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113" y="1627188"/>
            <a:ext cx="1288501" cy="1054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3528B-EEB0-3D18-EBD3-D9B17827E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713" y="2886204"/>
            <a:ext cx="2019300" cy="162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72FF2D-88A2-F0E8-737E-B4F58C885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594" y="4856420"/>
            <a:ext cx="2212863" cy="1284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64BB15-D0B4-E727-C9AE-D4EBC761C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646" y="1551116"/>
            <a:ext cx="1498600" cy="113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BECC6C-F0F6-9CC2-AC8F-6CB877254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8046" y="3235389"/>
            <a:ext cx="14732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418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AD9A-BA05-5932-2D13-CF41E695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Beyond</a:t>
            </a:r>
            <a:r>
              <a:rPr lang="zh-CN" altLang="en-US" dirty="0"/>
              <a:t> </a:t>
            </a:r>
            <a:r>
              <a:rPr lang="en-US" dirty="0"/>
              <a:t>this course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1DBBE-0E60-5027-3263-EAA2CE5D2A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b="1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-apple-system"/>
                <a:hlinkClick r:id="rId3"/>
              </a:rPr>
              <a:t>3blue1brown Linear Algebra series</a:t>
            </a:r>
            <a:r>
              <a:rPr lang="en-GB" b="0" i="0" dirty="0">
                <a:effectLst/>
                <a:latin typeface="-apple-system"/>
              </a:rPr>
              <a:t> (</a:t>
            </a:r>
            <a:r>
              <a:rPr lang="en-GB" b="1" i="0" dirty="0">
                <a:effectLst/>
                <a:latin typeface="-apple-system"/>
              </a:rPr>
              <a:t>strongly recommended</a:t>
            </a:r>
            <a:r>
              <a:rPr lang="en-GB" b="0" i="0" dirty="0"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-apple-system"/>
                <a:hlinkClick r:id="rId4"/>
              </a:rPr>
              <a:t>Introduction to applied linear algebra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0" i="1" dirty="0">
                <a:effectLst/>
                <a:latin typeface="-apple-system"/>
              </a:rPr>
              <a:t>by S. Boyd and L. </a:t>
            </a:r>
            <a:r>
              <a:rPr lang="en-GB" b="0" i="1" dirty="0" err="1">
                <a:effectLst/>
                <a:latin typeface="-apple-system"/>
              </a:rPr>
              <a:t>Vandenberghe</a:t>
            </a:r>
            <a:endParaRPr lang="en-GB" b="0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1" dirty="0"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-apple-system"/>
              </a:rPr>
              <a:t>Linear Algebra Done Right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0" i="1" dirty="0">
                <a:effectLst/>
                <a:latin typeface="-apple-system"/>
              </a:rPr>
              <a:t>by Sheldon </a:t>
            </a:r>
            <a:r>
              <a:rPr lang="en-GB" b="0" i="1" dirty="0" err="1">
                <a:effectLst/>
                <a:latin typeface="-apple-system"/>
              </a:rPr>
              <a:t>Axler</a:t>
            </a:r>
            <a:r>
              <a:rPr lang="en-GB" b="0" i="0" dirty="0">
                <a:effectLst/>
                <a:latin typeface="-apple-system"/>
              </a:rPr>
              <a:t> (excellent introduction to the "pure math" side of linear algebra) ISBN-13: 978-0387982588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-apple-system"/>
              </a:rPr>
              <a:t>Coding the Matrix: Linear Algebra through Applications to Computer Science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0" i="1" dirty="0">
                <a:effectLst/>
                <a:latin typeface="-apple-system"/>
              </a:rPr>
              <a:t>by Philip N Klein</a:t>
            </a:r>
            <a:r>
              <a:rPr lang="en-GB" b="0" i="0" dirty="0">
                <a:effectLst/>
                <a:latin typeface="-apple-system"/>
              </a:rPr>
              <a:t> (top quality textbook on how linear algebra is implemented, all in Python) ISBN-13: 978-0615880990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-apple-system"/>
              </a:rPr>
              <a:t>Linear Algebra and Learning from Data</a:t>
            </a:r>
            <a:r>
              <a:rPr lang="en-GB" b="0" i="0" dirty="0">
                <a:effectLst/>
                <a:latin typeface="-apple-system"/>
              </a:rPr>
              <a:t> </a:t>
            </a:r>
            <a:r>
              <a:rPr lang="en-GB" b="0" i="1" dirty="0">
                <a:effectLst/>
                <a:latin typeface="-apple-system"/>
              </a:rPr>
              <a:t>Gilbert Strang</a:t>
            </a:r>
            <a:r>
              <a:rPr lang="en-GB" b="0" i="0" dirty="0">
                <a:effectLst/>
                <a:latin typeface="-apple-system"/>
              </a:rPr>
              <a:t>, ISBN-13: 978-069219638-0, explains many detailed aspects of linear algebra and how they relate to data science.</a:t>
            </a:r>
          </a:p>
          <a:p>
            <a:pPr marL="0" indent="0">
              <a:buNone/>
            </a:pPr>
            <a:endParaRPr lang="en-GB" b="1" dirty="0">
              <a:latin typeface="var(--jp-content-font-family)"/>
              <a:hlinkClick r:id="rId5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u="none" strike="noStrike" dirty="0">
                <a:effectLst/>
                <a:latin typeface="var(--jp-content-font-family)"/>
                <a:hlinkClick r:id="rId5"/>
              </a:rPr>
              <a:t>The Matrix Cookbook</a:t>
            </a:r>
            <a:r>
              <a:rPr lang="en-GB" dirty="0">
                <a:effectLst/>
                <a:latin typeface="var(--jp-content-font-family)"/>
              </a:rPr>
              <a:t> </a:t>
            </a:r>
            <a:r>
              <a:rPr lang="en-GB" i="1" dirty="0">
                <a:effectLst/>
                <a:latin typeface="var(--jp-content-font-family)"/>
              </a:rPr>
              <a:t>by </a:t>
            </a:r>
            <a:r>
              <a:rPr lang="en-GB" i="1" dirty="0" err="1">
                <a:solidFill>
                  <a:schemeClr val="accent6"/>
                </a:solidFill>
                <a:effectLst/>
                <a:latin typeface="var(--jp-content-font-family)"/>
              </a:rPr>
              <a:t>Kaare</a:t>
            </a:r>
            <a:r>
              <a:rPr lang="en-GB" i="1" dirty="0">
                <a:solidFill>
                  <a:schemeClr val="accent6"/>
                </a:solidFill>
                <a:effectLst/>
                <a:latin typeface="var(--jp-content-font-family)"/>
              </a:rPr>
              <a:t> Brandt Petersen </a:t>
            </a:r>
            <a:r>
              <a:rPr lang="en-GB" i="1" dirty="0">
                <a:effectLst/>
                <a:latin typeface="var(--jp-content-font-family)"/>
              </a:rPr>
              <a:t>and </a:t>
            </a:r>
            <a:r>
              <a:rPr lang="en-GB" i="1" dirty="0">
                <a:solidFill>
                  <a:schemeClr val="accent6"/>
                </a:solidFill>
                <a:effectLst/>
                <a:latin typeface="var(--jp-content-font-family)"/>
              </a:rPr>
              <a:t>Michael </a:t>
            </a:r>
            <a:r>
              <a:rPr lang="en-GB" i="1" dirty="0" err="1">
                <a:solidFill>
                  <a:schemeClr val="accent6"/>
                </a:solidFill>
                <a:effectLst/>
                <a:latin typeface="var(--jp-content-font-family)"/>
              </a:rPr>
              <a:t>Syskind</a:t>
            </a:r>
            <a:r>
              <a:rPr lang="en-GB" i="1" dirty="0">
                <a:solidFill>
                  <a:schemeClr val="accent6"/>
                </a:solidFill>
                <a:effectLst/>
                <a:latin typeface="var(--jp-content-font-family)"/>
              </a:rPr>
              <a:t> Pedersen</a:t>
            </a:r>
            <a:r>
              <a:rPr lang="en-GB" dirty="0">
                <a:effectLst/>
                <a:latin typeface="var(--jp-content-font-family)"/>
              </a:rPr>
              <a:t>. If you need to do a tricky calculation with matrices, this book will probably tell you how to do it.</a:t>
            </a:r>
          </a:p>
        </p:txBody>
      </p:sp>
    </p:spTree>
    <p:extLst>
      <p:ext uri="{BB962C8B-B14F-4D97-AF65-F5344CB8AC3E}">
        <p14:creationId xmlns:p14="http://schemas.microsoft.com/office/powerpoint/2010/main" val="8972293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6546024" cy="1931535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</a:rPr>
              <a:t>Thank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you</a:t>
            </a:r>
            <a:br>
              <a:rPr lang="en-US" altLang="zh-CN" dirty="0">
                <a:solidFill>
                  <a:schemeClr val="bg1"/>
                </a:solidFill>
              </a:rPr>
            </a:b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Contact: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Nicolas.Pugeault@Glasgow.ac.uk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2551</TotalTime>
  <Words>5196</Words>
  <Application>Microsoft Office PowerPoint</Application>
  <PresentationFormat>Widescreen</PresentationFormat>
  <Paragraphs>600</Paragraphs>
  <Slides>78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3" baseType="lpstr">
      <vt:lpstr>-apple-system</vt:lpstr>
      <vt:lpstr>Arial</vt:lpstr>
      <vt:lpstr>Calibri</vt:lpstr>
      <vt:lpstr>Cambria Math</vt:lpstr>
      <vt:lpstr>Georgia</vt:lpstr>
      <vt:lpstr>Google Sans</vt:lpstr>
      <vt:lpstr>Menlo</vt:lpstr>
      <vt:lpstr>MJXc-TeX-main-B</vt:lpstr>
      <vt:lpstr>MJXc-TeX-main-R</vt:lpstr>
      <vt:lpstr>MJXc-TeX-math-I</vt:lpstr>
      <vt:lpstr>Söhne</vt:lpstr>
      <vt:lpstr>Symbol</vt:lpstr>
      <vt:lpstr>var(--jp-code-font-family)</vt:lpstr>
      <vt:lpstr>var(--jp-content-font-family)</vt:lpstr>
      <vt:lpstr>Office Theme</vt:lpstr>
      <vt:lpstr>Introduction to Data Science and Systems</vt:lpstr>
      <vt:lpstr>Intended Learning Outcomes</vt:lpstr>
      <vt:lpstr>Example: Text and translation</vt:lpstr>
      <vt:lpstr>Words aren't enough</vt:lpstr>
      <vt:lpstr>Solution -- to place them in a vector space</vt:lpstr>
      <vt:lpstr>The structure of a (topological) vector space</vt:lpstr>
      <vt:lpstr>Vector spaces </vt:lpstr>
      <vt:lpstr>Vector spaces </vt:lpstr>
      <vt:lpstr>Points in space </vt:lpstr>
      <vt:lpstr>Points in space </vt:lpstr>
      <vt:lpstr>Points in space </vt:lpstr>
      <vt:lpstr>Topological and inner product spaces </vt:lpstr>
      <vt:lpstr>Topological and inner product spaces </vt:lpstr>
      <vt:lpstr>Vectors </vt:lpstr>
      <vt:lpstr>Relation to arrays </vt:lpstr>
      <vt:lpstr>Uses of vectors</vt:lpstr>
      <vt:lpstr>Vector data </vt:lpstr>
      <vt:lpstr>Geometric operations </vt:lpstr>
      <vt:lpstr>Machine learning applications </vt:lpstr>
      <vt:lpstr>Example: irises classification</vt:lpstr>
      <vt:lpstr>Example: irises classification</vt:lpstr>
      <vt:lpstr>Example: irises classification</vt:lpstr>
      <vt:lpstr>Example: Image compression</vt:lpstr>
      <vt:lpstr>Basic vector operations </vt:lpstr>
      <vt:lpstr>Basic vector operations </vt:lpstr>
      <vt:lpstr>How big is that vector? </vt:lpstr>
      <vt:lpstr>Different norms</vt:lpstr>
      <vt:lpstr>Different norms</vt:lpstr>
      <vt:lpstr>Unit vectors and normalisation </vt:lpstr>
      <vt:lpstr>Inner products of vectors </vt:lpstr>
      <vt:lpstr>Inner products of vectors </vt:lpstr>
      <vt:lpstr>Basic vector statistics </vt:lpstr>
      <vt:lpstr>Center a dataset </vt:lpstr>
      <vt:lpstr>High-dimensional vector spaces </vt:lpstr>
      <vt:lpstr>Example: sailing weather station </vt:lpstr>
      <vt:lpstr>Example: sailing weather station </vt:lpstr>
      <vt:lpstr>Example: sailing weather station </vt:lpstr>
      <vt:lpstr>Example: sailing weather station </vt:lpstr>
      <vt:lpstr>Example: sailing weather station </vt:lpstr>
      <vt:lpstr>Matrices and linear operators </vt:lpstr>
      <vt:lpstr>Operations with matrices </vt:lpstr>
      <vt:lpstr>Intro to matrix notation </vt:lpstr>
      <vt:lpstr>Matrices as maps </vt:lpstr>
      <vt:lpstr>Linear maps </vt:lpstr>
      <vt:lpstr>Transforms and projections </vt:lpstr>
      <vt:lpstr>Geometric intuition (cube -&gt; parallelepiped) </vt:lpstr>
      <vt:lpstr>Examples - effect of linear transforms</vt:lpstr>
      <vt:lpstr>Examples - effect of linear transforms</vt:lpstr>
      <vt:lpstr>Examples - effect of linear transforms</vt:lpstr>
      <vt:lpstr>Examples - effect of linear transforms</vt:lpstr>
      <vt:lpstr>Examples - effect of linear transforms</vt:lpstr>
      <vt:lpstr>Examples - effect of linear transforms</vt:lpstr>
      <vt:lpstr>Matrix operations </vt:lpstr>
      <vt:lpstr>Matrix operations </vt:lpstr>
      <vt:lpstr>Application to vectors </vt:lpstr>
      <vt:lpstr>Application to vectors</vt:lpstr>
      <vt:lpstr>Let’s have a try</vt:lpstr>
      <vt:lpstr>Let’s have a try</vt:lpstr>
      <vt:lpstr>Let’s have a try</vt:lpstr>
      <vt:lpstr>Application to vectors</vt:lpstr>
      <vt:lpstr>Matrix multiplication </vt:lpstr>
      <vt:lpstr>Multiplication algorithm </vt:lpstr>
      <vt:lpstr>Multiplication algorithm </vt:lpstr>
      <vt:lpstr>Time complexity of multiplication </vt:lpstr>
      <vt:lpstr>Transposition</vt:lpstr>
      <vt:lpstr>Special matrix multiplication</vt:lpstr>
      <vt:lpstr>Matrix multiplication as composed maps </vt:lpstr>
      <vt:lpstr>Composed maps </vt:lpstr>
      <vt:lpstr>Composed maps </vt:lpstr>
      <vt:lpstr>Composed maps </vt:lpstr>
      <vt:lpstr>Concatenation of transforms </vt:lpstr>
      <vt:lpstr>Commutativity and Transpose </vt:lpstr>
      <vt:lpstr>An example matrix for measuring spread: covariance matrices </vt:lpstr>
      <vt:lpstr>An example matrix for measuring spread: covariance matrices </vt:lpstr>
      <vt:lpstr>Covariance ellipses </vt:lpstr>
      <vt:lpstr>Special matrix forms</vt:lpstr>
      <vt:lpstr>Beyond this course </vt:lpstr>
      <vt:lpstr>Thank you  Contact: Nicolas.Pugeault@Glasgow.ac.uk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Nicolas Pugeault</cp:lastModifiedBy>
  <cp:revision>1188</cp:revision>
  <dcterms:created xsi:type="dcterms:W3CDTF">2021-01-06T14:22:07Z</dcterms:created>
  <dcterms:modified xsi:type="dcterms:W3CDTF">2024-10-02T21:56:01Z</dcterms:modified>
  <cp:category/>
</cp:coreProperties>
</file>